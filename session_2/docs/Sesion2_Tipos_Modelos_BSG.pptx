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21"/>
  </p:notesMasterIdLst>
  <p:sldIdLst>
    <p:sldId id="2596" r:id="rId3"/>
    <p:sldId id="2598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599" r:id="rId18"/>
    <p:sldId id="2600" r:id="rId19"/>
    <p:sldId id="269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5881CE-1F33-4131-9306-E1E2379784A6}" v="3" dt="2026-09-11T00:29:22.9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796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6/11/relationships/changesInfo" Target="changesInfos/changesInfo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s Rojas" userId="424b5ec9ca65444c" providerId="LiveId" clId="{CC237C22-2FEB-4BA5-B44A-8AAD377EC886}"/>
    <pc:docChg chg="addSld modSld">
      <pc:chgData name="Andres Rojas" userId="424b5ec9ca65444c" providerId="LiveId" clId="{CC237C22-2FEB-4BA5-B44A-8AAD377EC886}" dt="2026-09-11T00:32:02.328" v="113" actId="20577"/>
      <pc:docMkLst>
        <pc:docMk/>
      </pc:docMkLst>
      <pc:sldChg chg="modSp mod">
        <pc:chgData name="Andres Rojas" userId="424b5ec9ca65444c" providerId="LiveId" clId="{CC237C22-2FEB-4BA5-B44A-8AAD377EC886}" dt="2026-09-11T00:32:02.328" v="113" actId="20577"/>
        <pc:sldMkLst>
          <pc:docMk/>
          <pc:sldMk cId="0" sldId="257"/>
        </pc:sldMkLst>
        <pc:spChg chg="mod">
          <ac:chgData name="Andres Rojas" userId="424b5ec9ca65444c" providerId="LiveId" clId="{CC237C22-2FEB-4BA5-B44A-8AAD377EC886}" dt="2026-09-11T00:32:02.328" v="113" actId="20577"/>
          <ac:spMkLst>
            <pc:docMk/>
            <pc:sldMk cId="0" sldId="257"/>
            <ac:spMk id="2" creationId="{00000000-0000-0000-0000-000000000000}"/>
          </ac:spMkLst>
        </pc:spChg>
      </pc:sldChg>
      <pc:sldChg chg="modSp add mod">
        <pc:chgData name="Andres Rojas" userId="424b5ec9ca65444c" providerId="LiveId" clId="{CC237C22-2FEB-4BA5-B44A-8AAD377EC886}" dt="2026-09-11T00:29:29.472" v="111" actId="108"/>
        <pc:sldMkLst>
          <pc:docMk/>
          <pc:sldMk cId="1993620505" sldId="2596"/>
        </pc:sldMkLst>
        <pc:spChg chg="mod">
          <ac:chgData name="Andres Rojas" userId="424b5ec9ca65444c" providerId="LiveId" clId="{CC237C22-2FEB-4BA5-B44A-8AAD377EC886}" dt="2026-09-11T00:29:29.472" v="111" actId="108"/>
          <ac:spMkLst>
            <pc:docMk/>
            <pc:sldMk cId="1993620505" sldId="2596"/>
            <ac:spMk id="2" creationId="{DA322FDC-DE2E-84AB-866E-E1CCDAF763CE}"/>
          </ac:spMkLst>
        </pc:spChg>
        <pc:spChg chg="mod">
          <ac:chgData name="Andres Rojas" userId="424b5ec9ca65444c" providerId="LiveId" clId="{CC237C22-2FEB-4BA5-B44A-8AAD377EC886}" dt="2026-09-11T00:29:20.159" v="109" actId="1076"/>
          <ac:spMkLst>
            <pc:docMk/>
            <pc:sldMk cId="1993620505" sldId="2596"/>
            <ac:spMk id="3" creationId="{8AFF1134-E656-C0B1-9054-C4E449D5B703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Costo/mes</c:v>
                </c:pt>
              </c:strCache>
            </c:strRef>
          </c:tx>
          <c:spPr>
            <a:solidFill>
              <a:srgbClr val="0078D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143-4F49-A903-2CF6D55A8550}"/>
              </c:ext>
            </c:extLst>
          </c:dPt>
          <c:dPt>
            <c:idx val="1"/>
            <c:invertIfNegative val="0"/>
            <c:bubble3D val="0"/>
            <c:spPr>
              <a:solidFill>
                <a:srgbClr val="4285F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143-4F49-A903-2CF6D55A8550}"/>
              </c:ext>
            </c:extLst>
          </c:dPt>
          <c:dPt>
            <c:idx val="2"/>
            <c:invertIfNegative val="0"/>
            <c:bubble3D val="0"/>
            <c:spPr>
              <a:solidFill>
                <a:srgbClr val="FF99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143-4F49-A903-2CF6D55A8550}"/>
              </c:ext>
            </c:extLst>
          </c:dPt>
          <c:dPt>
            <c:idx val="3"/>
            <c:invertIfNegative val="0"/>
            <c:bubble3D val="0"/>
            <c:spPr>
              <a:solidFill>
                <a:srgbClr val="00E67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143-4F49-A903-2CF6D55A855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Azure AKS</c:v>
                </c:pt>
                <c:pt idx="1">
                  <c:v>GCP GKE</c:v>
                </c:pt>
                <c:pt idx="2">
                  <c:v>AWS EKS</c:v>
                </c:pt>
                <c:pt idx="3">
                  <c:v>Ollama Local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259</c:v>
                </c:pt>
                <c:pt idx="1">
                  <c:v>290</c:v>
                </c:pt>
                <c:pt idx="2">
                  <c:v>310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143-4F49-A903-2CF6D55A85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0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A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0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92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3744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A3D769-C8C4-4BE5-83A4-70FC9A25D4AD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7452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Presentar los 3 temas del día:
1. Conceptos Kubernetes/Docker
2. Práctica en 3 nubes
3. Costos, ROI y riesgos
Duración: 3 horas con break de 15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agenda. Enfatizar que usaremos el MISMO código para las 3 nubes — esa es la clave de portabilidad.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al aula: ¿Quién ha tenido el problema de 'en mi máquina funciona'? Los contenedores nacen exactamente para eso.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Construir la imagen una vez y reutilizarla en las 3 nubes es el principio central. Multi-stage builds reducen el tamaño de imagen hasta 70%.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jerarquía K8s: Cluster &gt; Namespace &gt; Node &gt; Deployment &gt; Pod &gt; Container. El HPA es lo que nos da escalado automático para picos de demanda.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en vivo: instalar Ollama, descargar llama3.2:3b, lanzar el servidor FastAPI y hacer una llamada desde curl y desde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Ejercicio: el repositorio tiene deploy-azure.sh, deploy-gcp.sh y deploy-aws.sh. Los estudiantes ejecutan los 3 scripts y comparan el resultado.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AKS Control Plane gratuito es una ventaja enorme para POCs. GKE Autopilot es serverless K8s. EKS tiene mejor integración con servicios AWS (IAM, RDS, etc.).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 clave: modificar solo la línea 'image:' del YAML y aplicar en cada nube. Los estudiantes comprueban que es literalmente el mismo archivo.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Pesos sugeridos — ajustar según industria:
- Finanzas/Salud: +seguridad (criterio 4 sube a 25%)
- Startups: +costo (criterio 1 sube a 35%)
- Enterprise: +SLA (criterio 6 sube a 15%)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Ollama local solo viable para desarrollo/pruebas. Para producción con SLA, usar servicios gestionados. El costo de la nube incluye alta disponibilidad, actualizaciones automáticas y soporte.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ROI de 229% asume empresa mediana LATAM (500 empleados, $500K rev/año). Ajustar según tamaño del cliente. Los riesgos ALTOS deben tener plan de mitigación documentado antes del go-live.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arquitectura de referencia integra todos los temas de la sesión. Los estudiantes deben ser capaces de trazar cada componente al código del repositorio.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Tarea para la próxima sesión:
1. Desplegar el LLM Gateway en al menos UNA nube (la de su preferencia)
2. Hacer funcionar el endpoint /chat
3. Documentar el costo real incurrido
Próxima sesión: Arquitecturas Serverless y Optimización de Costos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0453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1F96F366-89B5-B26A-C459-B2F53B8F01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932259" y="895944"/>
            <a:ext cx="7279482" cy="994173"/>
          </a:xfrm>
        </p:spPr>
        <p:txBody>
          <a:bodyPr/>
          <a:lstStyle>
            <a:lvl1pPr>
              <a:defRPr sz="27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AE7852-6A2A-B495-635D-58D1FC359E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>
          <a:xfrm>
            <a:off x="6698967" y="4426064"/>
            <a:ext cx="2057400" cy="273844"/>
          </a:xfrm>
          <a:prstGeom prst="rect">
            <a:avLst/>
          </a:prstGeom>
        </p:spPr>
        <p:txBody>
          <a:bodyPr/>
          <a:lstStyle>
            <a:lvl1pPr algn="r">
              <a:defRPr b="1"/>
            </a:lvl1pPr>
          </a:lstStyle>
          <a:p>
            <a:fld id="{7E8F5345-8153-43DD-9300-E9A235179243}" type="slidenum">
              <a:rPr lang="es-PE" smtClean="0"/>
              <a:pPr/>
              <a:t>‹#›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618219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11C7B4-BD7E-3A9A-D0AA-6F3AE67527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932259" y="2074664"/>
            <a:ext cx="7279482" cy="9941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A121B71-5D03-27F5-A202-F0F4A61249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932260" y="3429000"/>
            <a:ext cx="7279482" cy="6405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2000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0906" y="733806"/>
            <a:ext cx="8366760" cy="2571750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906" y="3360420"/>
            <a:ext cx="5328666" cy="1049274"/>
          </a:xfrm>
        </p:spPr>
        <p:txBody>
          <a:bodyPr anchor="b">
            <a:normAutofit/>
          </a:bodyPr>
          <a:lstStyle>
            <a:lvl1pPr marL="0" indent="0" algn="l">
              <a:buNone/>
              <a:defRPr sz="1650" i="1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35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0906" y="1933956"/>
            <a:ext cx="3874770" cy="28254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754" y="1933956"/>
            <a:ext cx="3874770" cy="28254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866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523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EA1728-A627-6EED-A403-E5C6862EE5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932259" y="2074664"/>
            <a:ext cx="7279482" cy="9941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EF4EE74-F62E-804C-C402-763EC00D21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>
          <a:xfrm>
            <a:off x="932259" y="3450431"/>
            <a:ext cx="7279482" cy="6405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574681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ctr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1500" kern="1200">
          <a:solidFill>
            <a:srgbClr val="92D050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linkedin.com/in/arojaspa/" TargetMode="External"/><Relationship Id="rId5" Type="http://schemas.openxmlformats.org/officeDocument/2006/relationships/hyperlink" Target="mailto:arojaspa@outlook.com" TargetMode="External"/><Relationship Id="rId10" Type="http://schemas.openxmlformats.org/officeDocument/2006/relationships/image" Target="../media/image8.png"/><Relationship Id="rId4" Type="http://schemas.openxmlformats.org/officeDocument/2006/relationships/hyperlink" Target="mailto:anrojas@universidadean.edu.co" TargetMode="External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22FDC-DE2E-84AB-866E-E1CCDAF76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3300" dirty="0"/>
              <a:t>Programa </a:t>
            </a:r>
            <a:r>
              <a:rPr lang="es-CO" sz="3300" dirty="0" err="1"/>
              <a:t>Certified</a:t>
            </a:r>
            <a:r>
              <a:rPr lang="es-CO" sz="3300" dirty="0"/>
              <a:t> AI-LLM </a:t>
            </a:r>
            <a:r>
              <a:rPr lang="es-CO" sz="3300" dirty="0" err="1"/>
              <a:t>Solution</a:t>
            </a:r>
            <a:r>
              <a:rPr lang="es-CO" sz="3300" dirty="0"/>
              <a:t> </a:t>
            </a:r>
            <a:r>
              <a:rPr lang="es-CO" sz="3300" dirty="0" err="1"/>
              <a:t>Architect</a:t>
            </a:r>
            <a:br>
              <a:rPr lang="es-CO" sz="3300" dirty="0"/>
            </a:br>
            <a:br>
              <a:rPr lang="es-CO" sz="3300" dirty="0"/>
            </a:br>
            <a:r>
              <a:rPr lang="es-CO" sz="1500" dirty="0"/>
              <a:t>Curso </a:t>
            </a:r>
            <a:r>
              <a:rPr lang="es-ES" sz="1500" dirty="0"/>
              <a:t>Fundamentos de Arquitectura LLM</a:t>
            </a:r>
            <a:endParaRPr lang="es-CO" sz="1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F1134-E656-C0B1-9054-C4E449D5B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259" y="3429000"/>
            <a:ext cx="7279482" cy="640556"/>
          </a:xfrm>
        </p:spPr>
        <p:txBody>
          <a:bodyPr/>
          <a:lstStyle/>
          <a:p>
            <a:endParaRPr lang="es-CO" noProof="0" dirty="0"/>
          </a:p>
          <a:p>
            <a:r>
              <a:rPr lang="es-CO" noProof="0" dirty="0"/>
              <a:t>Claves para construir plataformas eficientes y adaptables en la nube</a:t>
            </a:r>
          </a:p>
        </p:txBody>
      </p:sp>
    </p:spTree>
    <p:extLst>
      <p:ext uri="{BB962C8B-B14F-4D97-AF65-F5344CB8AC3E}">
        <p14:creationId xmlns:p14="http://schemas.microsoft.com/office/powerpoint/2010/main" val="1993620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standing in front of a projector screen&#10;&#10;Description automatically generated">
            <a:extLst>
              <a:ext uri="{FF2B5EF4-FFF2-40B4-BE49-F238E27FC236}">
                <a16:creationId xmlns:a16="http://schemas.microsoft.com/office/drawing/2014/main" id="{F4050E24-A292-98CE-9A28-A6AD335BF4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5768" y="1086224"/>
            <a:ext cx="2556575" cy="25565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32BD56-BE25-61AB-4681-2815B4F9BEE6}"/>
              </a:ext>
            </a:extLst>
          </p:cNvPr>
          <p:cNvSpPr txBox="1"/>
          <p:nvPr/>
        </p:nvSpPr>
        <p:spPr>
          <a:xfrm>
            <a:off x="366963" y="977940"/>
            <a:ext cx="5089359" cy="31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s-CO" b="1" dirty="0">
                <a:solidFill>
                  <a:prstClr val="black"/>
                </a:solidFill>
                <a:latin typeface="Arial" panose="020B0604020202020204"/>
              </a:rPr>
              <a:t>Andrés Felipe Rojas Parra</a:t>
            </a:r>
          </a:p>
          <a:p>
            <a:pPr defTabSz="685800">
              <a:defRPr/>
            </a:pPr>
            <a:endParaRPr lang="es-CO" b="1" dirty="0">
              <a:solidFill>
                <a:prstClr val="black"/>
              </a:solidFill>
              <a:latin typeface="Arial" panose="020B0604020202020204"/>
            </a:endParaRPr>
          </a:p>
          <a:p>
            <a:pPr marL="257175" indent="-257175" defTabSz="685800">
              <a:buFont typeface="Arial" panose="020B0604020202020204" pitchFamily="34" charset="0"/>
              <a:buChar char="•"/>
              <a:defRPr/>
            </a:pP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Ingeniero electrónico con mas de 25 años de experiencia</a:t>
            </a:r>
          </a:p>
          <a:p>
            <a:pPr marL="257175" indent="-257175" defTabSz="685800">
              <a:buFont typeface="Arial" panose="020B0604020202020204" pitchFamily="34" charset="0"/>
              <a:buChar char="•"/>
              <a:defRPr/>
            </a:pP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PGP Artificial </a:t>
            </a:r>
            <a:r>
              <a:rPr lang="es-CO" sz="1050" dirty="0" err="1">
                <a:solidFill>
                  <a:prstClr val="black"/>
                </a:solidFill>
                <a:latin typeface="Arial" panose="020B0604020202020204"/>
              </a:rPr>
              <a:t>Intelligence</a:t>
            </a: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 &amp; Machine </a:t>
            </a:r>
            <a:r>
              <a:rPr lang="es-CO" sz="1050" dirty="0" err="1">
                <a:solidFill>
                  <a:prstClr val="black"/>
                </a:solidFill>
                <a:latin typeface="Arial" panose="020B0604020202020204"/>
              </a:rPr>
              <a:t>Leaning</a:t>
            </a: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 at Texas University – Austin, TX</a:t>
            </a:r>
          </a:p>
          <a:p>
            <a:pPr marL="257175" indent="-257175" defTabSz="685800">
              <a:buFont typeface="Arial" panose="020B0604020202020204" pitchFamily="34" charset="0"/>
              <a:buChar char="•"/>
              <a:defRPr/>
            </a:pP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Master en Inteligencia Artificial y Big Data – IEBSchool</a:t>
            </a:r>
          </a:p>
          <a:p>
            <a:pPr marL="257175" indent="-257175" defTabSz="685800">
              <a:buFont typeface="Arial" panose="020B0604020202020204" pitchFamily="34" charset="0"/>
              <a:buChar char="•"/>
              <a:defRPr/>
            </a:pP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Estudiante de PGP en Cloud Computing at Texas University - Austin, TX</a:t>
            </a:r>
          </a:p>
          <a:p>
            <a:pPr marL="257175" indent="-257175" defTabSz="685800">
              <a:buFont typeface="Arial" panose="020B0604020202020204" pitchFamily="34" charset="0"/>
              <a:buChar char="•"/>
              <a:defRPr/>
            </a:pP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Texas Executive </a:t>
            </a:r>
            <a:r>
              <a:rPr lang="es-CO" sz="1050" dirty="0" err="1">
                <a:solidFill>
                  <a:prstClr val="black"/>
                </a:solidFill>
                <a:latin typeface="Arial" panose="020B0604020202020204"/>
              </a:rPr>
              <a:t>Education</a:t>
            </a: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es-CO" sz="1050" dirty="0" err="1">
                <a:solidFill>
                  <a:prstClr val="black"/>
                </a:solidFill>
                <a:latin typeface="Arial" panose="020B0604020202020204"/>
              </a:rPr>
              <a:t>Program</a:t>
            </a: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 – McCombs </a:t>
            </a:r>
            <a:r>
              <a:rPr lang="es-CO" sz="1050" dirty="0" err="1">
                <a:solidFill>
                  <a:prstClr val="black"/>
                </a:solidFill>
                <a:latin typeface="Arial" panose="020B0604020202020204"/>
              </a:rPr>
              <a:t>School</a:t>
            </a: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 of Business – </a:t>
            </a:r>
            <a:r>
              <a:rPr lang="es-CO" sz="1050" dirty="0" err="1">
                <a:solidFill>
                  <a:prstClr val="black"/>
                </a:solidFill>
                <a:latin typeface="Arial" panose="020B0604020202020204"/>
              </a:rPr>
              <a:t>Decision</a:t>
            </a: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es-CO" sz="1050" dirty="0" err="1">
                <a:solidFill>
                  <a:prstClr val="black"/>
                </a:solidFill>
                <a:latin typeface="Arial" panose="020B0604020202020204"/>
              </a:rPr>
              <a:t>Science</a:t>
            </a: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 and AI </a:t>
            </a:r>
            <a:r>
              <a:rPr lang="es-CO" sz="1050" dirty="0" err="1">
                <a:solidFill>
                  <a:prstClr val="black"/>
                </a:solidFill>
                <a:latin typeface="Arial" panose="020B0604020202020204"/>
              </a:rPr>
              <a:t>Immersion</a:t>
            </a: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es-CO" sz="1050" dirty="0" err="1">
                <a:solidFill>
                  <a:prstClr val="black"/>
                </a:solidFill>
                <a:latin typeface="Arial" panose="020B0604020202020204"/>
              </a:rPr>
              <a:t>Program</a:t>
            </a:r>
            <a:endParaRPr lang="es-CO" sz="1050" dirty="0">
              <a:solidFill>
                <a:prstClr val="black"/>
              </a:solidFill>
              <a:latin typeface="Arial" panose="020B0604020202020204"/>
            </a:endParaRPr>
          </a:p>
          <a:p>
            <a:pPr marL="257175" indent="-257175" defTabSz="685800">
              <a:buFont typeface="Arial" panose="020B0604020202020204" pitchFamily="34" charset="0"/>
              <a:buChar char="•"/>
              <a:defRPr/>
            </a:pP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Especialista en MLOps de la Universidad de Duke</a:t>
            </a:r>
          </a:p>
          <a:p>
            <a:pPr marL="257175" indent="-257175" defTabSz="685800">
              <a:buFont typeface="Arial" panose="020B0604020202020204" pitchFamily="34" charset="0"/>
              <a:buChar char="•"/>
              <a:defRPr/>
            </a:pP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Estudiante de </a:t>
            </a:r>
            <a:r>
              <a:rPr lang="en-US" sz="1050" dirty="0">
                <a:solidFill>
                  <a:prstClr val="black"/>
                </a:solidFill>
                <a:latin typeface="Arial" panose="020B0604020202020204"/>
              </a:rPr>
              <a:t>Deep Learning for Healthcare Specialization</a:t>
            </a:r>
          </a:p>
          <a:p>
            <a:pPr marL="257175" indent="-257175" defTabSz="685800"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prstClr val="black"/>
                </a:solidFill>
                <a:latin typeface="Arial" panose="020B0604020202020204"/>
              </a:rPr>
              <a:t>Director de </a:t>
            </a:r>
            <a:r>
              <a:rPr lang="en-US" sz="1050" dirty="0" err="1">
                <a:solidFill>
                  <a:prstClr val="black"/>
                </a:solidFill>
                <a:latin typeface="Arial" panose="020B0604020202020204"/>
              </a:rPr>
              <a:t>Inteligencia</a:t>
            </a:r>
            <a:r>
              <a:rPr lang="en-US" sz="1050" dirty="0">
                <a:solidFill>
                  <a:prstClr val="black"/>
                </a:solidFill>
                <a:latin typeface="Arial" panose="020B0604020202020204"/>
              </a:rPr>
              <a:t> Artificial e </a:t>
            </a:r>
            <a:r>
              <a:rPr lang="en-US" sz="1050" dirty="0" err="1">
                <a:solidFill>
                  <a:prstClr val="black"/>
                </a:solidFill>
                <a:latin typeface="Arial" panose="020B0604020202020204"/>
              </a:rPr>
              <a:t>Innovacion</a:t>
            </a:r>
            <a:r>
              <a:rPr lang="en-US" sz="1050" dirty="0">
                <a:solidFill>
                  <a:prstClr val="black"/>
                </a:solidFill>
                <a:latin typeface="Arial" panose="020B0604020202020204"/>
              </a:rPr>
              <a:t> Universidad EAN/Colombia</a:t>
            </a:r>
          </a:p>
          <a:p>
            <a:pPr defTabSz="685800">
              <a:defRPr/>
            </a:pPr>
            <a:endParaRPr lang="es-CO" sz="1200" dirty="0">
              <a:solidFill>
                <a:prstClr val="black"/>
              </a:solidFill>
              <a:latin typeface="Arial" panose="020B0604020202020204"/>
            </a:endParaRPr>
          </a:p>
          <a:p>
            <a:pPr defTabSz="685800">
              <a:defRPr/>
            </a:pPr>
            <a:r>
              <a:rPr lang="es-CO" sz="1200" dirty="0">
                <a:solidFill>
                  <a:prstClr val="black"/>
                </a:solidFill>
                <a:latin typeface="Arial" panose="020B0604020202020204"/>
              </a:rPr>
              <a:t>       </a:t>
            </a:r>
            <a:r>
              <a:rPr lang="es-CO" sz="1050" dirty="0">
                <a:solidFill>
                  <a:prstClr val="black"/>
                </a:solidFill>
                <a:latin typeface="Arial" panose="020B0604020202020204"/>
                <a:hlinkClick r:id="rId4"/>
              </a:rPr>
              <a:t>anrojas@universidadean.edu.co</a:t>
            </a: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 / </a:t>
            </a:r>
            <a:r>
              <a:rPr lang="es-CO" sz="1050" dirty="0">
                <a:solidFill>
                  <a:prstClr val="black"/>
                </a:solidFill>
                <a:latin typeface="Arial" panose="020B0604020202020204"/>
                <a:hlinkClick r:id="rId5"/>
              </a:rPr>
              <a:t>arojaspa@outlook.com</a:t>
            </a: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 / arojaspa76 </a:t>
            </a:r>
          </a:p>
          <a:p>
            <a:pPr defTabSz="685800">
              <a:defRPr/>
            </a:pP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        @arojaspa</a:t>
            </a:r>
          </a:p>
          <a:p>
            <a:pPr defTabSz="685800">
              <a:defRPr/>
            </a:pP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        </a:t>
            </a:r>
            <a:r>
              <a:rPr lang="es-CO" sz="1050" dirty="0">
                <a:solidFill>
                  <a:prstClr val="black"/>
                </a:solidFill>
                <a:latin typeface="Arial" panose="020B0604020202020204"/>
                <a:hlinkClick r:id="rId6"/>
              </a:rPr>
              <a:t>https://www.linkedin.com/in/arojaspa/</a:t>
            </a: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 </a:t>
            </a:r>
          </a:p>
          <a:p>
            <a:pPr defTabSz="685800">
              <a:defRPr/>
            </a:pPr>
            <a:r>
              <a:rPr lang="es-CO" sz="1050" b="1" dirty="0">
                <a:solidFill>
                  <a:prstClr val="black"/>
                </a:solidFill>
                <a:latin typeface="Arial" panose="020B0604020202020204"/>
              </a:rPr>
              <a:t>        </a:t>
            </a: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+573005906373</a:t>
            </a:r>
          </a:p>
          <a:p>
            <a:pPr defTabSz="685800">
              <a:defRPr/>
            </a:pPr>
            <a:endParaRPr lang="es-CO" sz="1350" dirty="0">
              <a:solidFill>
                <a:prstClr val="black"/>
              </a:solidFill>
              <a:latin typeface="Arial" panose="020B0604020202020204"/>
            </a:endParaRPr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EB64CA9A-7B31-EFA2-5431-CBE0020D6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97" y="3703802"/>
            <a:ext cx="181562" cy="182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>
            <a:extLst>
              <a:ext uri="{FF2B5EF4-FFF2-40B4-BE49-F238E27FC236}">
                <a16:creationId xmlns:a16="http://schemas.microsoft.com/office/drawing/2014/main" id="{6AB845BF-C5E0-D0AE-BF0D-5B4171151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073" y="3565909"/>
            <a:ext cx="132860" cy="132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X Social Media Black icon PNG and SVG Vector Free Download">
            <a:extLst>
              <a:ext uri="{FF2B5EF4-FFF2-40B4-BE49-F238E27FC236}">
                <a16:creationId xmlns:a16="http://schemas.microsoft.com/office/drawing/2014/main" id="{A77E3B5A-FBB2-0065-4ADA-8350C8F83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71972" y="3403953"/>
            <a:ext cx="132861" cy="132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Webmail Login IONOS, 54% OFF | dobytudesign.cz">
            <a:extLst>
              <a:ext uri="{FF2B5EF4-FFF2-40B4-BE49-F238E27FC236}">
                <a16:creationId xmlns:a16="http://schemas.microsoft.com/office/drawing/2014/main" id="{007B4FE4-1CA7-E477-FB58-766D409F3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940" y="3247029"/>
            <a:ext cx="158085" cy="121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469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F2040">
              <a:alpha val="60000"/>
            </a:srgbClr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-914400"/>
            <a:ext cx="3474720" cy="347472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223760" y="-548640"/>
            <a:ext cx="2743200" cy="2743200"/>
          </a:xfrm>
          <a:prstGeom prst="ellipse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41148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0099BB"/>
          </a:solidFill>
          <a:ln w="12700">
            <a:solidFill>
              <a:srgbClr val="0099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91640" y="914400"/>
            <a:ext cx="923544" cy="27432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91640" y="914400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87168" y="914400"/>
            <a:ext cx="836676" cy="274320"/>
          </a:xfrm>
          <a:prstGeom prst="roundRect">
            <a:avLst>
              <a:gd name="adj" fmla="val 20000"/>
            </a:avLst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87168" y="914400"/>
            <a:ext cx="836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HORAS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132588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Kubernetes, Docker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LLMs en la Nube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548640" y="33375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Distribuidos y Contenedores para Infraestructura Escalable de IA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63840" y="365760"/>
            <a:ext cx="777240" cy="777240"/>
          </a:xfrm>
          <a:prstGeom prst="ellipse">
            <a:avLst/>
          </a:prstGeom>
          <a:solidFill>
            <a:srgbClr val="1A2E42"/>
          </a:solidFill>
          <a:ln w="1016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475488"/>
            <a:ext cx="548640" cy="5486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818120" y="1143000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7863840" y="1261872"/>
            <a:ext cx="777240" cy="777240"/>
          </a:xfrm>
          <a:prstGeom prst="ellipse">
            <a:avLst/>
          </a:prstGeom>
          <a:solidFill>
            <a:srgbClr val="1A2E42"/>
          </a:solidFill>
          <a:ln w="1016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8" y="1371600"/>
            <a:ext cx="548640" cy="5486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818120" y="2039112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7863840" y="2157984"/>
            <a:ext cx="777240" cy="777240"/>
          </a:xfrm>
          <a:prstGeom prst="ellipse">
            <a:avLst/>
          </a:prstGeom>
          <a:solidFill>
            <a:srgbClr val="1A2E42"/>
          </a:solidFill>
          <a:ln w="1016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568" y="2267712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818120" y="2935224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7863840" y="3054096"/>
            <a:ext cx="777240" cy="777240"/>
          </a:xfrm>
          <a:prstGeom prst="ellipse">
            <a:avLst/>
          </a:prstGeom>
          <a:solidFill>
            <a:srgbClr val="1A2E42"/>
          </a:solidFill>
          <a:ln w="1016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3568" y="3163824"/>
            <a:ext cx="548640" cy="5486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818120" y="3831336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7863840" y="3950208"/>
            <a:ext cx="777240" cy="777240"/>
          </a:xfrm>
          <a:prstGeom prst="ellipse">
            <a:avLst/>
          </a:prstGeom>
          <a:solidFill>
            <a:srgbClr val="1A2E42"/>
          </a:solidFill>
          <a:ln w="1016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3568" y="4059936"/>
            <a:ext cx="548640" cy="5486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818120" y="472744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548640" y="480060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BSG Institute  ·  AI/LLM Infrastructure  ·  2025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</a:t>
            </a: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bloques de trabajo • 3 horas de alto impacto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2651760" cy="374904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11556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1188720" y="1783080"/>
            <a:ext cx="1097280" cy="256032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88720" y="1783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08483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Kubernetes y Docker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contenedores?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95351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Conceptos: Image, Container, Pod, Node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25526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clústeres para LLMs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557016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Ollama: LLM local sin costo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18688" y="1078992"/>
            <a:ext cx="2651760" cy="374904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18688" y="111556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3995928" y="1783080"/>
            <a:ext cx="1097280" cy="256032"/>
          </a:xfrm>
          <a:prstGeom prst="rect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95928" y="1783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min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10128" y="208483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con Contenedores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55848" y="265176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local → 3 nubes (mismo Dockerfile)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55848" y="295351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local con Minikube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55848" y="325526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· GKE · EKS — deploy idéntico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55848" y="3557016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como LLM Gateway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25896" y="1078992"/>
            <a:ext cx="2651760" cy="374904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025896" y="111556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25" name="Shape 23"/>
          <p:cNvSpPr/>
          <p:nvPr/>
        </p:nvSpPr>
        <p:spPr>
          <a:xfrm>
            <a:off x="6803136" y="1783080"/>
            <a:ext cx="1097280" cy="256032"/>
          </a:xfrm>
          <a:prstGeom prst="rect">
            <a:avLst/>
          </a:prstGeom>
          <a:solidFill>
            <a:srgbClr val="00E676">
              <a:alpha val="20000"/>
            </a:srgbClr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03136" y="1783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17336" y="208483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Costos, ROI y Riesgos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63056" y="265176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criterios de evaluación cloud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63056" y="295351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costos 100K req/mes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63056" y="325526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229% en 18 meses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63056" y="3557016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riesgos técnicos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Break 15 min entre Bloque 1 y 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Contenedores para LLMs?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1 · El problema que resuelven Docker y Kubernetes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3977640" cy="3794760"/>
          </a:xfrm>
          <a:prstGeom prst="rect">
            <a:avLst/>
          </a:prstGeom>
          <a:solidFill>
            <a:srgbClr val="1A152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😱  El Problema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 mi máquina funciona"  — conflictos de dependencias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176272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11 vs CUDA 12 — incompatibilidades de GPU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752344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necesita 16GB RAM — ¿cómo escalar?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328416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manual en 3 equipos diferentes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904488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aislamiento → un modelo afecta a otro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34840" y="2834640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16552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754880" y="1078992"/>
            <a:ext cx="3977640" cy="3794760"/>
          </a:xfrm>
          <a:prstGeom prst="rect">
            <a:avLst/>
          </a:prstGeom>
          <a:solidFill>
            <a:srgbClr val="1A2E42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117043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La Solución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1600200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Docker = entorno reproducible 100%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176272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drivers gestionados por el host, no el contenedor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752344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de K8s: 2 → 10 pods en segundos automático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3328416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YAML → deploy en Azure, GCP y AWS idéntico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3904488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 → aislamiento garantizado por diseño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Empresas con K8s en producción: 71% en 2024  ·  Reducción de costos promedio: 30%  ·  Time-to-deploy: -80%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Docker: Conceptos Fundamentales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1 · Del Dockerfile a un LLM corriendo en producción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965960" cy="219456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170432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18745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" y="217627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construir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377440" y="196596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560320" y="1078992"/>
            <a:ext cx="1965960" cy="219456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672" y="1170432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60320" y="18745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560320" y="217627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inmutable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26280" y="196596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709160" y="1078992"/>
            <a:ext cx="1965960" cy="219456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9512" y="1170432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09160" y="18745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709160" y="217627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ejecutándose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675120" y="196596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6858000" y="1078992"/>
            <a:ext cx="1965960" cy="219456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2" y="1170432"/>
            <a:ext cx="640080" cy="6400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0" y="18745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858000" y="217627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 · ECR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Reg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11480" y="3383280"/>
            <a:ext cx="4160520" cy="1554480"/>
          </a:xfrm>
          <a:prstGeom prst="rect">
            <a:avLst/>
          </a:prstGeom>
          <a:solidFill>
            <a:srgbClr val="0D1F2D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502920" y="342900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— LLM Gateway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502920" y="3730752"/>
            <a:ext cx="3977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python:3.11-slim
</a:t>
            </a: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
COPY requirements.txt .
</a:t>
            </a: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pip install --no-cache-dir -r requirements.txt
</a:t>
            </a: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./app ./app
EXPOSE 8000
</a:t>
            </a: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["uvicorn", "app.main:app", "--host", "0.0.0.0"]
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4663440" y="3383280"/>
            <a:ext cx="4069080" cy="1554480"/>
          </a:xfrm>
          <a:prstGeom prst="rect">
            <a:avLst/>
          </a:prstGeom>
          <a:solidFill>
            <a:srgbClr val="0D1F2D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4754880" y="342900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esenciales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754880" y="37490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-t llm-gateway .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7498080" y="37490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Construir imagen</a:t>
            </a:r>
            <a:endParaRPr lang="en-US" sz="750" dirty="0"/>
          </a:p>
        </p:txBody>
      </p:sp>
      <p:sp>
        <p:nvSpPr>
          <p:cNvPr id="31" name="Text 25"/>
          <p:cNvSpPr/>
          <p:nvPr/>
        </p:nvSpPr>
        <p:spPr>
          <a:xfrm>
            <a:off x="4754880" y="40233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-p 8000:8000 llm-gateway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7498080" y="40233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Ejecutar contenedor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4754880" y="42976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push myregistry/llm-gateway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7498080" y="42976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Subir al registry</a:t>
            </a:r>
            <a:endParaRPr lang="en-US" sz="750" dirty="0"/>
          </a:p>
        </p:txBody>
      </p:sp>
      <p:sp>
        <p:nvSpPr>
          <p:cNvPr id="35" name="Text 29"/>
          <p:cNvSpPr/>
          <p:nvPr/>
        </p:nvSpPr>
        <p:spPr>
          <a:xfrm>
            <a:off x="4754880" y="45720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 up -d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7498080" y="457200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Stack completo local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Kubernetes: Orquestación a Escala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1 · De un Pod a un clúster multi-nube con auto-escalado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108960" y="1078992"/>
            <a:ext cx="2926080" cy="50292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108960" y="1545336"/>
            <a:ext cx="292608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108960" y="1115568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08960" y="13258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/ GKE / EKS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0" y="1581912"/>
            <a:ext cx="0" cy="246888"/>
          </a:xfrm>
          <a:prstGeom prst="line">
            <a:avLst/>
          </a:prstGeom>
          <a:noFill/>
          <a:ln w="12700">
            <a:solidFill>
              <a:srgbClr val="8899A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8720" y="1828800"/>
            <a:ext cx="2286000" cy="45720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88720" y="2249424"/>
            <a:ext cx="228600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88720" y="1865376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20756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llm-prod / llm-dev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669280" y="1828800"/>
            <a:ext cx="2286000" cy="45720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669280" y="2249424"/>
            <a:ext cx="228600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0" y="1865376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0" y="20756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/ system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331720" y="2286000"/>
            <a:ext cx="2240280" cy="228600"/>
          </a:xfrm>
          <a:prstGeom prst="line">
            <a:avLst/>
          </a:prstGeom>
          <a:noFill/>
          <a:ln w="12700">
            <a:solidFill>
              <a:srgbClr val="8899A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2286000"/>
            <a:ext cx="1097280" cy="228600"/>
          </a:xfrm>
          <a:prstGeom prst="line">
            <a:avLst/>
          </a:prstGeom>
          <a:noFill/>
          <a:ln w="12700">
            <a:solidFill>
              <a:srgbClr val="8899A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1480" y="2606040"/>
            <a:ext cx="1828800" cy="45720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1480" y="3026664"/>
            <a:ext cx="18288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264261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28529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VM: 4 vCPU, 16GB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377440" y="2606040"/>
            <a:ext cx="2286000" cy="45720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377440" y="3026664"/>
            <a:ext cx="22860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377440" y="2642616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377440" y="28529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llm-gateway: 2-10 pods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800600" y="2606040"/>
            <a:ext cx="2194560" cy="45720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00600" y="3026664"/>
            <a:ext cx="219456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00600" y="2642616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00600" y="28529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LoadBalancer / ClusterIP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132320" y="2606040"/>
            <a:ext cx="1600200" cy="45720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132320" y="3026664"/>
            <a:ext cx="16002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132320" y="2642616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32320" y="285292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CPU&gt;70%: +1 pod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11480" y="3246120"/>
            <a:ext cx="2468880" cy="438912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11480" y="3648456"/>
            <a:ext cx="2468880" cy="365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11480" y="328269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1480" y="34930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llm-gateway-1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91840" y="3246120"/>
            <a:ext cx="2468880" cy="438912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291840" y="3648456"/>
            <a:ext cx="2468880" cy="365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291840" y="328269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291840" y="34930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llm-gateway-2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172200" y="3246120"/>
            <a:ext cx="2468880" cy="438912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172200" y="3648456"/>
            <a:ext cx="2468880" cy="365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172200" y="328269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172200" y="34930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llm-gateway-3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11480" y="3822192"/>
            <a:ext cx="1188720" cy="384048"/>
          </a:xfrm>
          <a:prstGeom prst="rect">
            <a:avLst/>
          </a:prstGeom>
          <a:solidFill>
            <a:srgbClr val="0D201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11480" y="38404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Container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691640" y="3822192"/>
            <a:ext cx="1143000" cy="384048"/>
          </a:xfrm>
          <a:prstGeom prst="rect">
            <a:avLst/>
          </a:prstGeom>
          <a:solidFill>
            <a:srgbClr val="0D201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691640" y="384048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Sidecar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291840" y="3822192"/>
            <a:ext cx="1188720" cy="384048"/>
          </a:xfrm>
          <a:prstGeom prst="rect">
            <a:avLst/>
          </a:prstGeom>
          <a:solidFill>
            <a:srgbClr val="0D201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291840" y="38404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Container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572000" y="3822192"/>
            <a:ext cx="1143000" cy="384048"/>
          </a:xfrm>
          <a:prstGeom prst="rect">
            <a:avLst/>
          </a:prstGeom>
          <a:solidFill>
            <a:srgbClr val="0D201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572000" y="384048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Sidecar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172200" y="3822192"/>
            <a:ext cx="1188720" cy="384048"/>
          </a:xfrm>
          <a:prstGeom prst="rect">
            <a:avLst/>
          </a:prstGeom>
          <a:solidFill>
            <a:srgbClr val="0D201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172200" y="38404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Container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7452360" y="3822192"/>
            <a:ext cx="1143000" cy="384048"/>
          </a:xfrm>
          <a:prstGeom prst="rect">
            <a:avLst/>
          </a:prstGeom>
          <a:solidFill>
            <a:srgbClr val="0D201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452360" y="384048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Sidecar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+ FastAPI: LLM Local sin Costo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1 · Práctica inmediata — cero credenciales, cero costo, máximo aprendizaje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0" y="164592"/>
            <a:ext cx="1444752" cy="274320"/>
          </a:xfrm>
          <a:prstGeom prst="roundRect">
            <a:avLst>
              <a:gd name="adj" fmla="val 20000"/>
            </a:avLst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0" y="16459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LOCAL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3977640" cy="379476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70432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2344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— Setup en 3 pasos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1737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Instalar Ollama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48640" y="20208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-fsSL https://ollama.ai/install.sh | sh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48640" y="23042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Descargar modelo (2GB)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48640" y="25877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llama3.2:3b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48640" y="28712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Ejecutar y consultar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48640" y="3154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serve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48640" y="34381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http://localhost:11434/api/chat \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48640" y="37216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-d '{"model":"llama3.2:3b",...}'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48640" y="40233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recomendados para clase: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48640" y="427939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llama3.2:3b  </a:t>
            </a: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2GB  </a:t>
            </a: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Recomendado aula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48640" y="450799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mistral:7b  </a:t>
            </a: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4GB  </a:t>
            </a: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instrucciones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48640" y="473659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phi3:mini  </a:t>
            </a: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2.3GB  </a:t>
            </a: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y eficiente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480560" y="1078992"/>
            <a:ext cx="4251960" cy="379476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170432"/>
            <a:ext cx="502920" cy="5029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230368" y="1234440"/>
            <a:ext cx="34107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Gateway — Endpoints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4617720" y="1737360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00E676">
              <a:alpha val="25000"/>
            </a:srgbClr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4617720" y="17373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5166360" y="17373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766560" y="17373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servicio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4617720" y="2167128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00E676">
              <a:alpha val="25000"/>
            </a:srgbClr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4617720" y="21671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5166360" y="21671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/models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6766560" y="21671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disponibles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4617720" y="2596896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F5A623">
              <a:alpha val="2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4617720" y="259689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5166360" y="259689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/chat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6766560" y="259689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con LLM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4617720" y="3026664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F5A623">
              <a:alpha val="2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4617720" y="302666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39" name="Text 35"/>
          <p:cNvSpPr/>
          <p:nvPr/>
        </p:nvSpPr>
        <p:spPr>
          <a:xfrm>
            <a:off x="5166360" y="302666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/chat/stream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6766560" y="302666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SSE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4617720" y="3456432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F5A623">
              <a:alpha val="2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/>
          <p:nvPr/>
        </p:nvSpPr>
        <p:spPr>
          <a:xfrm>
            <a:off x="4617720" y="34564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43" name="Text 39"/>
          <p:cNvSpPr/>
          <p:nvPr/>
        </p:nvSpPr>
        <p:spPr>
          <a:xfrm>
            <a:off x="5166360" y="345643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/embeddings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6766560" y="34564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Vectores semánticos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4480560" y="3886200"/>
            <a:ext cx="4251960" cy="987552"/>
          </a:xfrm>
          <a:prstGeom prst="rect">
            <a:avLst/>
          </a:prstGeom>
          <a:solidFill>
            <a:srgbClr val="0D1F2D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2"/>
          <p:cNvSpPr/>
          <p:nvPr/>
        </p:nvSpPr>
        <p:spPr>
          <a:xfrm>
            <a:off x="4572000" y="3950208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@app.post("/chat")
</a:t>
            </a:r>
            <a:r>
              <a:rPr lang="en-US" sz="8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chat(req: ChatRequest):
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 = await ollama_client.chat(
        model=req.model,
        messages=req.messages)
    return ChatResponse(**resp)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Dockerfile → Tres Nubes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2 · Portabilidad como principio: build once, deploy anywhere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818120" y="164592"/>
            <a:ext cx="923544" cy="27432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818120" y="164592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0" y="1078992"/>
            <a:ext cx="2743200" cy="914400"/>
          </a:xfrm>
          <a:prstGeom prst="rect">
            <a:avLst/>
          </a:prstGeom>
          <a:solidFill>
            <a:srgbClr val="0D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117043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886200" y="12344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único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46120" y="20116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-t llm-gateway:v1 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1078992"/>
            <a:ext cx="2651760" cy="347472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170432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70432" y="12161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02920" y="171907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Login y ACR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502920" y="196596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login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502920" y="221284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acr login --name myacr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502920" y="245973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Tag y push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502920" y="270662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tag llm-gateway \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502920" y="295351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myacr.azurecr.io/llm-gateway:v1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502920" y="320040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push \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502920" y="344728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myacr.azurecr.io/llm-gateway:v1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502920" y="369417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Deploy a ACI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502920" y="394106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container create \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502920" y="418795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--image myacr.azurecr.io/... \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502920" y="443484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--ports 8000</a:t>
            </a:r>
            <a:endParaRPr lang="en-US" sz="750" dirty="0"/>
          </a:p>
        </p:txBody>
      </p:sp>
      <p:sp>
        <p:nvSpPr>
          <p:cNvPr id="26" name="Shape 22"/>
          <p:cNvSpPr/>
          <p:nvPr/>
        </p:nvSpPr>
        <p:spPr>
          <a:xfrm>
            <a:off x="3246120" y="2331720"/>
            <a:ext cx="2651760" cy="2221992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2423160"/>
            <a:ext cx="457200" cy="4572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005072" y="24688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3337560" y="2944368"/>
            <a:ext cx="2468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Artifact Registry</a:t>
            </a:r>
            <a:endParaRPr lang="en-US" sz="700" dirty="0"/>
          </a:p>
        </p:txBody>
      </p:sp>
      <p:sp>
        <p:nvSpPr>
          <p:cNvPr id="30" name="Text 25"/>
          <p:cNvSpPr/>
          <p:nvPr/>
        </p:nvSpPr>
        <p:spPr>
          <a:xfrm>
            <a:off x="3337560" y="3099816"/>
            <a:ext cx="2468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gcloud auth login</a:t>
            </a:r>
            <a:endParaRPr lang="en-US" sz="700" dirty="0"/>
          </a:p>
        </p:txBody>
      </p:sp>
      <p:sp>
        <p:nvSpPr>
          <p:cNvPr id="31" name="Text 26"/>
          <p:cNvSpPr/>
          <p:nvPr/>
        </p:nvSpPr>
        <p:spPr>
          <a:xfrm>
            <a:off x="3337560" y="3255264"/>
            <a:ext cx="2468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gcloud auth configure-docker</a:t>
            </a:r>
            <a:endParaRPr lang="en-US" sz="700" dirty="0"/>
          </a:p>
        </p:txBody>
      </p:sp>
      <p:sp>
        <p:nvSpPr>
          <p:cNvPr id="32" name="Text 27"/>
          <p:cNvSpPr/>
          <p:nvPr/>
        </p:nvSpPr>
        <p:spPr>
          <a:xfrm>
            <a:off x="3337560" y="3410712"/>
            <a:ext cx="2468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tag llm-gateway \</a:t>
            </a:r>
            <a:endParaRPr lang="en-US" sz="700" dirty="0"/>
          </a:p>
        </p:txBody>
      </p:sp>
      <p:sp>
        <p:nvSpPr>
          <p:cNvPr id="33" name="Text 28"/>
          <p:cNvSpPr/>
          <p:nvPr/>
        </p:nvSpPr>
        <p:spPr>
          <a:xfrm>
            <a:off x="3337560" y="3566160"/>
            <a:ext cx="2468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us-central1-docker.pkg.dev/...</a:t>
            </a:r>
            <a:endParaRPr lang="en-US" sz="700" dirty="0"/>
          </a:p>
        </p:txBody>
      </p:sp>
      <p:sp>
        <p:nvSpPr>
          <p:cNvPr id="34" name="Text 29"/>
          <p:cNvSpPr/>
          <p:nvPr/>
        </p:nvSpPr>
        <p:spPr>
          <a:xfrm>
            <a:off x="3337560" y="3721608"/>
            <a:ext cx="2468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push ...</a:t>
            </a:r>
            <a:endParaRPr lang="en-US" sz="700" dirty="0"/>
          </a:p>
        </p:txBody>
      </p:sp>
      <p:sp>
        <p:nvSpPr>
          <p:cNvPr id="35" name="Text 30"/>
          <p:cNvSpPr/>
          <p:nvPr/>
        </p:nvSpPr>
        <p:spPr>
          <a:xfrm>
            <a:off x="3337560" y="3877056"/>
            <a:ext cx="2468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Deploy a Cloud Run</a:t>
            </a:r>
            <a:endParaRPr lang="en-US" sz="700" dirty="0"/>
          </a:p>
        </p:txBody>
      </p:sp>
      <p:sp>
        <p:nvSpPr>
          <p:cNvPr id="36" name="Text 31"/>
          <p:cNvSpPr/>
          <p:nvPr/>
        </p:nvSpPr>
        <p:spPr>
          <a:xfrm>
            <a:off x="3337560" y="4032504"/>
            <a:ext cx="2468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gcloud run deploy llm-gateway \</a:t>
            </a:r>
            <a:endParaRPr lang="en-US" sz="700" dirty="0"/>
          </a:p>
        </p:txBody>
      </p:sp>
      <p:sp>
        <p:nvSpPr>
          <p:cNvPr id="37" name="Text 32"/>
          <p:cNvSpPr/>
          <p:nvPr/>
        </p:nvSpPr>
        <p:spPr>
          <a:xfrm>
            <a:off x="3337560" y="4187952"/>
            <a:ext cx="2468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--image us-central1... \</a:t>
            </a:r>
            <a:endParaRPr lang="en-US" sz="700" dirty="0"/>
          </a:p>
        </p:txBody>
      </p:sp>
      <p:sp>
        <p:nvSpPr>
          <p:cNvPr id="38" name="Text 33"/>
          <p:cNvSpPr/>
          <p:nvPr/>
        </p:nvSpPr>
        <p:spPr>
          <a:xfrm>
            <a:off x="3337560" y="4343400"/>
            <a:ext cx="2468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--port 8000</a:t>
            </a:r>
            <a:endParaRPr lang="en-US" sz="700" dirty="0"/>
          </a:p>
        </p:txBody>
      </p:sp>
      <p:sp>
        <p:nvSpPr>
          <p:cNvPr id="39" name="Shape 34"/>
          <p:cNvSpPr/>
          <p:nvPr/>
        </p:nvSpPr>
        <p:spPr>
          <a:xfrm>
            <a:off x="6080760" y="1078992"/>
            <a:ext cx="2651760" cy="347472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1170432"/>
            <a:ext cx="457200" cy="45720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6839712" y="121615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AWS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6172200" y="171907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ECR Login</a:t>
            </a:r>
            <a:endParaRPr lang="en-US" sz="750" dirty="0"/>
          </a:p>
        </p:txBody>
      </p:sp>
      <p:sp>
        <p:nvSpPr>
          <p:cNvPr id="43" name="Text 37"/>
          <p:cNvSpPr/>
          <p:nvPr/>
        </p:nvSpPr>
        <p:spPr>
          <a:xfrm>
            <a:off x="6172200" y="196596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ecr get-login-password \</a:t>
            </a:r>
            <a:endParaRPr lang="en-US" sz="750" dirty="0"/>
          </a:p>
        </p:txBody>
      </p:sp>
      <p:sp>
        <p:nvSpPr>
          <p:cNvPr id="44" name="Text 38"/>
          <p:cNvSpPr/>
          <p:nvPr/>
        </p:nvSpPr>
        <p:spPr>
          <a:xfrm>
            <a:off x="6172200" y="221284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docker login --username \</a:t>
            </a:r>
            <a:endParaRPr lang="en-US" sz="750" dirty="0"/>
          </a:p>
        </p:txBody>
      </p:sp>
      <p:sp>
        <p:nvSpPr>
          <p:cNvPr id="45" name="Text 39"/>
          <p:cNvSpPr/>
          <p:nvPr/>
        </p:nvSpPr>
        <p:spPr>
          <a:xfrm>
            <a:off x="6172200" y="245973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AWS --password-stdin \</a:t>
            </a:r>
            <a:endParaRPr lang="en-US" sz="750" dirty="0"/>
          </a:p>
        </p:txBody>
      </p:sp>
      <p:sp>
        <p:nvSpPr>
          <p:cNvPr id="46" name="Text 40"/>
          <p:cNvSpPr/>
          <p:nvPr/>
        </p:nvSpPr>
        <p:spPr>
          <a:xfrm>
            <a:off x="6172200" y="270662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123.dkr.ecr.us-east-1...</a:t>
            </a:r>
            <a:endParaRPr lang="en-US" sz="750" dirty="0"/>
          </a:p>
        </p:txBody>
      </p:sp>
      <p:sp>
        <p:nvSpPr>
          <p:cNvPr id="47" name="Text 41"/>
          <p:cNvSpPr/>
          <p:nvPr/>
        </p:nvSpPr>
        <p:spPr>
          <a:xfrm>
            <a:off x="6172200" y="295351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Tag y push</a:t>
            </a:r>
            <a:endParaRPr lang="en-US" sz="750" dirty="0"/>
          </a:p>
        </p:txBody>
      </p:sp>
      <p:sp>
        <p:nvSpPr>
          <p:cNvPr id="48" name="Text 42"/>
          <p:cNvSpPr/>
          <p:nvPr/>
        </p:nvSpPr>
        <p:spPr>
          <a:xfrm>
            <a:off x="6172200" y="320040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tag llm-gateway \</a:t>
            </a:r>
            <a:endParaRPr lang="en-US" sz="750" dirty="0"/>
          </a:p>
        </p:txBody>
      </p:sp>
      <p:sp>
        <p:nvSpPr>
          <p:cNvPr id="49" name="Text 43"/>
          <p:cNvSpPr/>
          <p:nvPr/>
        </p:nvSpPr>
        <p:spPr>
          <a:xfrm>
            <a:off x="6172200" y="344728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123.dkr.ecr.../llm-gateway:v1</a:t>
            </a:r>
            <a:endParaRPr lang="en-US" sz="750" dirty="0"/>
          </a:p>
        </p:txBody>
      </p:sp>
      <p:sp>
        <p:nvSpPr>
          <p:cNvPr id="50" name="Text 44"/>
          <p:cNvSpPr/>
          <p:nvPr/>
        </p:nvSpPr>
        <p:spPr>
          <a:xfrm>
            <a:off x="6172200" y="369417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push ...</a:t>
            </a:r>
            <a:endParaRPr lang="en-US" sz="750" dirty="0"/>
          </a:p>
        </p:txBody>
      </p:sp>
      <p:sp>
        <p:nvSpPr>
          <p:cNvPr id="51" name="Text 45"/>
          <p:cNvSpPr/>
          <p:nvPr/>
        </p:nvSpPr>
        <p:spPr>
          <a:xfrm>
            <a:off x="6172200" y="394106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Deploy a ECS Fargate</a:t>
            </a:r>
            <a:endParaRPr lang="en-US" sz="750" dirty="0"/>
          </a:p>
        </p:txBody>
      </p:sp>
      <p:sp>
        <p:nvSpPr>
          <p:cNvPr id="52" name="Text 46"/>
          <p:cNvSpPr/>
          <p:nvPr/>
        </p:nvSpPr>
        <p:spPr>
          <a:xfrm>
            <a:off x="6172200" y="418795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ecs create-service \</a:t>
            </a:r>
            <a:endParaRPr lang="en-US" sz="750" dirty="0"/>
          </a:p>
        </p:txBody>
      </p:sp>
      <p:sp>
        <p:nvSpPr>
          <p:cNvPr id="53" name="Text 47"/>
          <p:cNvSpPr/>
          <p:nvPr/>
        </p:nvSpPr>
        <p:spPr>
          <a:xfrm>
            <a:off x="6172200" y="443484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--task-definition llm \</a:t>
            </a:r>
            <a:endParaRPr lang="en-US" sz="750" dirty="0"/>
          </a:p>
        </p:txBody>
      </p:sp>
      <p:sp>
        <p:nvSpPr>
          <p:cNvPr id="54" name="Text 48"/>
          <p:cNvSpPr/>
          <p:nvPr/>
        </p:nvSpPr>
        <p:spPr>
          <a:xfrm>
            <a:off x="6172200" y="468172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--desired-count 2</a:t>
            </a:r>
            <a:endParaRPr lang="en-US" sz="750" dirty="0"/>
          </a:p>
        </p:txBody>
      </p:sp>
      <p:sp>
        <p:nvSpPr>
          <p:cNvPr id="55" name="Text 49"/>
          <p:cNvSpPr/>
          <p:nvPr/>
        </p:nvSpPr>
        <p:spPr>
          <a:xfrm>
            <a:off x="2926080" y="13716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6" name="Text 50"/>
          <p:cNvSpPr/>
          <p:nvPr/>
        </p:nvSpPr>
        <p:spPr>
          <a:xfrm>
            <a:off x="5852160" y="13716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7" name="Text 51"/>
          <p:cNvSpPr/>
          <p:nvPr/>
        </p:nvSpPr>
        <p:spPr>
          <a:xfrm>
            <a:off x="4407408" y="202996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58" name="Text 52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Mismo Dockerfile para las 3 nubes — solo cambian las credenciales y el registry de destino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Gestionado: AKS vs GKE vs EKS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2 · El mismo YAML de Kubernetes funciona en las 3 plataformas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645920" cy="384048"/>
          </a:xfrm>
          <a:prstGeom prst="rect">
            <a:avLst/>
          </a:prstGeom>
          <a:solidFill>
            <a:srgbClr val="1A2E42"/>
          </a:solidFill>
          <a:ln w="1016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57400" y="1078992"/>
            <a:ext cx="2194560" cy="384048"/>
          </a:xfrm>
          <a:prstGeom prst="rect">
            <a:avLst/>
          </a:prstGeom>
          <a:solidFill>
            <a:srgbClr val="0078D4"/>
          </a:solidFill>
          <a:ln w="1016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57400" y="10789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(Azure)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1078992"/>
            <a:ext cx="2194560" cy="384048"/>
          </a:xfrm>
          <a:prstGeom prst="rect">
            <a:avLst/>
          </a:prstGeom>
          <a:solidFill>
            <a:srgbClr val="4285F4"/>
          </a:solidFill>
          <a:ln w="1016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51960" y="10789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 (Google)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46520" y="1078992"/>
            <a:ext cx="2194560" cy="384048"/>
          </a:xfrm>
          <a:prstGeom prst="rect">
            <a:avLst/>
          </a:prstGeom>
          <a:solidFill>
            <a:srgbClr val="FF9900"/>
          </a:solidFill>
          <a:ln w="1016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46520" y="10789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(AWS)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1463040"/>
            <a:ext cx="1645920" cy="438912"/>
          </a:xfrm>
          <a:prstGeom prst="rect">
            <a:avLst/>
          </a:prstGeom>
          <a:solidFill>
            <a:srgbClr val="162030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" y="1463040"/>
            <a:ext cx="14996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K8s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057400" y="1463040"/>
            <a:ext cx="2194560" cy="438912"/>
          </a:xfrm>
          <a:prstGeom prst="rect">
            <a:avLst/>
          </a:prstGeom>
          <a:solidFill>
            <a:srgbClr val="162030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130552" y="1463040"/>
            <a:ext cx="2048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1.29+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51960" y="1463040"/>
            <a:ext cx="2194560" cy="438912"/>
          </a:xfrm>
          <a:prstGeom prst="rect">
            <a:avLst/>
          </a:prstGeom>
          <a:solidFill>
            <a:srgbClr val="162030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25112" y="1463040"/>
            <a:ext cx="2048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1.29+ (Autopilot)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46520" y="1463040"/>
            <a:ext cx="2194560" cy="438912"/>
          </a:xfrm>
          <a:prstGeom prst="rect">
            <a:avLst/>
          </a:prstGeom>
          <a:solidFill>
            <a:srgbClr val="162030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19672" y="1463040"/>
            <a:ext cx="2048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1.29+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1901952"/>
            <a:ext cx="1645920" cy="438912"/>
          </a:xfrm>
          <a:prstGeom prst="rect">
            <a:avLst/>
          </a:prstGeom>
          <a:solidFill>
            <a:srgbClr val="1A2E42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" y="1901952"/>
            <a:ext cx="14996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057400" y="1901952"/>
            <a:ext cx="2194560" cy="438912"/>
          </a:xfrm>
          <a:prstGeom prst="rect">
            <a:avLst/>
          </a:prstGeom>
          <a:solidFill>
            <a:srgbClr val="1A2E42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130552" y="1901952"/>
            <a:ext cx="2048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51960" y="1901952"/>
            <a:ext cx="2194560" cy="438912"/>
          </a:xfrm>
          <a:prstGeom prst="rect">
            <a:avLst/>
          </a:prstGeom>
          <a:solidFill>
            <a:srgbClr val="1A2E42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25112" y="1901952"/>
            <a:ext cx="2048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~$0.10/hora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46520" y="1901952"/>
            <a:ext cx="2194560" cy="438912"/>
          </a:xfrm>
          <a:prstGeom prst="rect">
            <a:avLst/>
          </a:prstGeom>
          <a:solidFill>
            <a:srgbClr val="1A2E42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19672" y="1901952"/>
            <a:ext cx="2048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$0.10/hora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2340864"/>
            <a:ext cx="1645920" cy="438912"/>
          </a:xfrm>
          <a:prstGeom prst="rect">
            <a:avLst/>
          </a:prstGeom>
          <a:solidFill>
            <a:srgbClr val="162030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4632" y="2340864"/>
            <a:ext cx="14996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057400" y="2340864"/>
            <a:ext cx="2194560" cy="438912"/>
          </a:xfrm>
          <a:prstGeom prst="rect">
            <a:avLst/>
          </a:prstGeom>
          <a:solidFill>
            <a:srgbClr val="162030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130552" y="2340864"/>
            <a:ext cx="2048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B2s: $35/mes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251960" y="2340864"/>
            <a:ext cx="2194560" cy="438912"/>
          </a:xfrm>
          <a:prstGeom prst="rect">
            <a:avLst/>
          </a:prstGeom>
          <a:solidFill>
            <a:srgbClr val="162030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325112" y="2340864"/>
            <a:ext cx="2048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e2-medium: $27/mes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46520" y="2340864"/>
            <a:ext cx="2194560" cy="438912"/>
          </a:xfrm>
          <a:prstGeom prst="rect">
            <a:avLst/>
          </a:prstGeom>
          <a:solidFill>
            <a:srgbClr val="162030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19672" y="2340864"/>
            <a:ext cx="2048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t3.medium: $33/mes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11480" y="2779776"/>
            <a:ext cx="1645920" cy="438912"/>
          </a:xfrm>
          <a:prstGeom prst="rect">
            <a:avLst/>
          </a:prstGeom>
          <a:solidFill>
            <a:srgbClr val="1A2E42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4632" y="2779776"/>
            <a:ext cx="14996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057400" y="2779776"/>
            <a:ext cx="2194560" cy="438912"/>
          </a:xfrm>
          <a:prstGeom prst="rect">
            <a:avLst/>
          </a:prstGeom>
          <a:solidFill>
            <a:srgbClr val="1A2E42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130552" y="2779776"/>
            <a:ext cx="2048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+ KEDA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251960" y="2779776"/>
            <a:ext cx="2194560" cy="438912"/>
          </a:xfrm>
          <a:prstGeom prst="rect">
            <a:avLst/>
          </a:prstGeom>
          <a:solidFill>
            <a:srgbClr val="1A2E42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325112" y="2779776"/>
            <a:ext cx="2048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+ VPA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46520" y="2779776"/>
            <a:ext cx="2194560" cy="438912"/>
          </a:xfrm>
          <a:prstGeom prst="rect">
            <a:avLst/>
          </a:prstGeom>
          <a:solidFill>
            <a:srgbClr val="1A2E42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519672" y="2779776"/>
            <a:ext cx="2048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+ Karpenter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11480" y="3218688"/>
            <a:ext cx="1645920" cy="438912"/>
          </a:xfrm>
          <a:prstGeom prst="rect">
            <a:avLst/>
          </a:prstGeom>
          <a:solidFill>
            <a:srgbClr val="162030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4632" y="3218688"/>
            <a:ext cx="14996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support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057400" y="3218688"/>
            <a:ext cx="2194560" cy="438912"/>
          </a:xfrm>
          <a:prstGeom prst="rect">
            <a:avLst/>
          </a:prstGeom>
          <a:solidFill>
            <a:srgbClr val="162030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130552" y="3218688"/>
            <a:ext cx="2048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series NVIDIA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251960" y="3218688"/>
            <a:ext cx="2194560" cy="438912"/>
          </a:xfrm>
          <a:prstGeom prst="rect">
            <a:avLst/>
          </a:prstGeom>
          <a:solidFill>
            <a:srgbClr val="162030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325112" y="3218688"/>
            <a:ext cx="2048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A100/T4 nativo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446520" y="3218688"/>
            <a:ext cx="2194560" cy="438912"/>
          </a:xfrm>
          <a:prstGeom prst="rect">
            <a:avLst/>
          </a:prstGeom>
          <a:solidFill>
            <a:srgbClr val="162030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519672" y="3218688"/>
            <a:ext cx="2048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p3/g4 instances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11480" y="3657600"/>
            <a:ext cx="1645920" cy="438912"/>
          </a:xfrm>
          <a:prstGeom prst="rect">
            <a:avLst/>
          </a:prstGeom>
          <a:solidFill>
            <a:srgbClr val="1A2E42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84632" y="3657600"/>
            <a:ext cx="14996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057400" y="3657600"/>
            <a:ext cx="2194560" cy="438912"/>
          </a:xfrm>
          <a:prstGeom prst="rect">
            <a:avLst/>
          </a:prstGeom>
          <a:solidFill>
            <a:srgbClr val="1A2E42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130552" y="3657600"/>
            <a:ext cx="2048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 crédito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251960" y="3657600"/>
            <a:ext cx="2194560" cy="438912"/>
          </a:xfrm>
          <a:prstGeom prst="rect">
            <a:avLst/>
          </a:prstGeom>
          <a:solidFill>
            <a:srgbClr val="1A2E42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325112" y="3657600"/>
            <a:ext cx="2048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 crédito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446520" y="3657600"/>
            <a:ext cx="2194560" cy="438912"/>
          </a:xfrm>
          <a:prstGeom prst="rect">
            <a:avLst/>
          </a:prstGeom>
          <a:solidFill>
            <a:srgbClr val="1A2E42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519672" y="3657600"/>
            <a:ext cx="2048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meses gratis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11480" y="4096512"/>
            <a:ext cx="1645920" cy="438912"/>
          </a:xfrm>
          <a:prstGeom prst="rect">
            <a:avLst/>
          </a:prstGeom>
          <a:solidFill>
            <a:srgbClr val="162030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84632" y="4096512"/>
            <a:ext cx="14996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estudiante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057400" y="4096512"/>
            <a:ext cx="2194560" cy="438912"/>
          </a:xfrm>
          <a:prstGeom prst="rect">
            <a:avLst/>
          </a:prstGeom>
          <a:solidFill>
            <a:srgbClr val="162030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2130552" y="4096512"/>
            <a:ext cx="2048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aks create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251960" y="4096512"/>
            <a:ext cx="2194560" cy="438912"/>
          </a:xfrm>
          <a:prstGeom prst="rect">
            <a:avLst/>
          </a:prstGeom>
          <a:solidFill>
            <a:srgbClr val="162030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325112" y="4096512"/>
            <a:ext cx="2048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gcloud container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446520" y="4096512"/>
            <a:ext cx="2194560" cy="438912"/>
          </a:xfrm>
          <a:prstGeom prst="rect">
            <a:avLst/>
          </a:prstGeom>
          <a:solidFill>
            <a:srgbClr val="162030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519672" y="4096512"/>
            <a:ext cx="2048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eksctl create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11480" y="4590288"/>
            <a:ext cx="8321040" cy="384048"/>
          </a:xfrm>
          <a:prstGeom prst="rect">
            <a:avLst/>
          </a:prstGeom>
          <a:solidFill>
            <a:srgbClr val="0D201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502920" y="4636008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Mismo deployment.yaml para las 3 plataformas — kubectl apply funciona igual en AKS, GKE y EKS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YAML — El Mismo para las 3 Nubes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2 · Un solo archivo de configuración, infinitas posibilidades de despliegue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818120" y="164592"/>
            <a:ext cx="749808" cy="274320"/>
          </a:xfrm>
          <a:prstGeom prst="roundRect">
            <a:avLst>
              <a:gd name="adj" fmla="val 20000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818120" y="16459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4160520" cy="3794760"/>
          </a:xfrm>
          <a:prstGeom prst="rect">
            <a:avLst/>
          </a:prstGeom>
          <a:solidFill>
            <a:srgbClr val="0A1628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14300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kubernetes/deployment.yaml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397764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apps/v1
kind: Deployment
</a:t>
            </a:r>
            <a:r>
              <a:rPr lang="en-US" sz="8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
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llm-gateway
  namespace: llm-prod
</a:t>
            </a:r>
            <a:r>
              <a:rPr lang="en-US" sz="8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
</a:t>
            </a:r>
            <a:r>
              <a:rPr lang="en-US" sz="8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replicas: 2
</a:t>
            </a:r>
            <a:r>
              <a:rPr lang="en-US" sz="8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selector:
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matchLabels:
      app: llm-gateway
</a:t>
            </a:r>
            <a:r>
              <a:rPr lang="en-US" sz="8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template:
    spec:
      containers:
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llm-gateway
</a:t>
            </a:r>
            <a:r>
              <a:rPr lang="en-US" sz="8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image: REGISTRY/llm-gateway:v1
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ports:
</a:t>
            </a:r>
            <a:r>
              <a:rPr lang="en-US" sz="8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 containerPort: 8000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63440" y="1078992"/>
            <a:ext cx="4069080" cy="1828800"/>
          </a:xfrm>
          <a:prstGeom prst="rect">
            <a:avLst/>
          </a:prstGeom>
          <a:solidFill>
            <a:srgbClr val="0A1628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14300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— Auto-Escalado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0" y="1463040"/>
            <a:ext cx="3886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autoscaling/v2
kind: HorizontalPodAutoscaler
</a:t>
            </a:r>
            <a:r>
              <a:rPr lang="en-US" sz="8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
</a:t>
            </a:r>
            <a:r>
              <a:rPr lang="en-US" sz="8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minReplicas: 2
  maxReplicas: 10
</a:t>
            </a:r>
            <a:r>
              <a:rPr lang="en-US" sz="8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metrics:
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type: Resource
    resource:
      name: cpu
      target:
</a:t>
            </a:r>
            <a:r>
              <a:rPr lang="en-US" sz="8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averageUtilization: 70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63440" y="2999232"/>
            <a:ext cx="4069080" cy="1874520"/>
          </a:xfrm>
          <a:prstGeom prst="rect">
            <a:avLst/>
          </a:prstGeom>
          <a:solidFill>
            <a:srgbClr val="0D1F2D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306324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— Comandos esenciales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0" y="340156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apply -f kubernetes/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7955280" y="3401568"/>
            <a:ext cx="713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Desplegar todo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754880" y="363931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pods -n llm-prod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955280" y="3639312"/>
            <a:ext cx="713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Ver pods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754880" y="387705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logs -f deploy/llm-gateway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955280" y="3877056"/>
            <a:ext cx="713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Ver logs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754880" y="41148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scale deploy llm-gateway --replicas=5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955280" y="4114800"/>
            <a:ext cx="713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Escalar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754880" y="435254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svc -n llm-prod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955280" y="4352544"/>
            <a:ext cx="713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Ver IP externa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754880" y="459028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top pods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955280" y="4590288"/>
            <a:ext cx="713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Uso de recursos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Cambia REGISTRY por: myacr.azurecr.io | us-central1-docker.pkg.dev | 123456.dkr.ecr.us-east-1.amazonaws.com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Criterios para Evaluar tu Plataforma Cloud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3 · Framework de decisión para arquitectos de LLM en LATAM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2084832" cy="1664208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17043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15214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417320" y="1188720"/>
            <a:ext cx="685800" cy="237744"/>
          </a:xfrm>
          <a:prstGeom prst="roundRect">
            <a:avLst>
              <a:gd name="adj" fmla="val 19231"/>
            </a:avLst>
          </a:prstGeom>
          <a:solidFill>
            <a:srgbClr val="00E676">
              <a:alpha val="30000"/>
            </a:srgbClr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417320" y="11887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155448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Total (TCO)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1901952"/>
            <a:ext cx="19933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Cómputo + storage + red + API calls + soporte. Proyección a 12 y 36 meses.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624328" y="1078992"/>
            <a:ext cx="2084832" cy="1664208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117043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081528" y="115214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3630168" y="1188720"/>
            <a:ext cx="685800" cy="237744"/>
          </a:xfrm>
          <a:prstGeom prst="roundRect">
            <a:avLst>
              <a:gd name="adj" fmla="val 19231"/>
            </a:avLst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3630168" y="11887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670048" y="155448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&amp; Latencia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2670048" y="1901952"/>
            <a:ext cx="19933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P95/P99 latency, throughput tokens/seg, GPU availability, cold start time.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4837176" y="1078992"/>
            <a:ext cx="2084832" cy="1664208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328" y="1170432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94376" y="115214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843016" y="1188720"/>
            <a:ext cx="685800" cy="237744"/>
          </a:xfrm>
          <a:prstGeom prst="roundRect">
            <a:avLst>
              <a:gd name="adj" fmla="val 19231"/>
            </a:avLst>
          </a:prstGeom>
          <a:solidFill>
            <a:srgbClr val="A855F7">
              <a:alpha val="30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5843016" y="11887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4882896" y="155448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4882896" y="1901952"/>
            <a:ext cx="19933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HPA, VPA, KEDA. Burst capacity. Multi-región. Auto-scaling sin intervención.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7050024" y="1078992"/>
            <a:ext cx="2084832" cy="1664208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3176" y="1170432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507224" y="115214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8055864" y="1188720"/>
            <a:ext cx="685800" cy="237744"/>
          </a:xfrm>
          <a:prstGeom prst="roundRect">
            <a:avLst>
              <a:gd name="adj" fmla="val 19231"/>
            </a:avLst>
          </a:prstGeom>
          <a:solidFill>
            <a:srgbClr val="FF4757">
              <a:alpha val="30000"/>
            </a:srgbClr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8055864" y="11887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7095744" y="155448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&amp; Cumplimiento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7095744" y="1901952"/>
            <a:ext cx="19933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SOC2, ISO27001, GDPR/LGPD, encriptación at-rest y in-transit, VPC privada.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758952" y="2999232"/>
            <a:ext cx="2084832" cy="1664208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" y="3090672"/>
            <a:ext cx="347472" cy="34747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216152" y="307238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1764792" y="3108960"/>
            <a:ext cx="685800" cy="237744"/>
          </a:xfrm>
          <a:prstGeom prst="roundRect">
            <a:avLst>
              <a:gd name="adj" fmla="val 19231"/>
            </a:avLst>
          </a:prstGeom>
          <a:solidFill>
            <a:srgbClr val="F5A623">
              <a:alpha val="3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0"/>
          <p:cNvSpPr/>
          <p:nvPr/>
        </p:nvSpPr>
        <p:spPr>
          <a:xfrm>
            <a:off x="1764792" y="310896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804672" y="347472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Ecosistema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804672" y="3822192"/>
            <a:ext cx="19933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LangChain, APIs nativas, monitoreo (Grafana/LangSmith), CI/CD, IaC.</a:t>
            </a:r>
            <a:endParaRPr lang="en-US" sz="850" dirty="0"/>
          </a:p>
        </p:txBody>
      </p:sp>
      <p:sp>
        <p:nvSpPr>
          <p:cNvPr id="40" name="Shape 33"/>
          <p:cNvSpPr/>
          <p:nvPr/>
        </p:nvSpPr>
        <p:spPr>
          <a:xfrm>
            <a:off x="3337560" y="2999232"/>
            <a:ext cx="2084832" cy="1664208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0712" y="3090672"/>
            <a:ext cx="347472" cy="347472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3794760" y="307238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3" name="Shape 35"/>
          <p:cNvSpPr/>
          <p:nvPr/>
        </p:nvSpPr>
        <p:spPr>
          <a:xfrm>
            <a:off x="4343400" y="3108960"/>
            <a:ext cx="685800" cy="237744"/>
          </a:xfrm>
          <a:prstGeom prst="roundRect">
            <a:avLst>
              <a:gd name="adj" fmla="val 19231"/>
            </a:avLst>
          </a:prstGeom>
          <a:solidFill>
            <a:srgbClr val="00E676">
              <a:alpha val="30000"/>
            </a:srgbClr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6"/>
          <p:cNvSpPr/>
          <p:nvPr/>
        </p:nvSpPr>
        <p:spPr>
          <a:xfrm>
            <a:off x="4343400" y="310896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00" dirty="0"/>
          </a:p>
        </p:txBody>
      </p:sp>
      <p:sp>
        <p:nvSpPr>
          <p:cNvPr id="45" name="Text 37"/>
          <p:cNvSpPr/>
          <p:nvPr/>
        </p:nvSpPr>
        <p:spPr>
          <a:xfrm>
            <a:off x="3383280" y="347472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&amp; SLA</a:t>
            </a:r>
            <a:endParaRPr lang="en-US" sz="1000" dirty="0"/>
          </a:p>
        </p:txBody>
      </p:sp>
      <p:sp>
        <p:nvSpPr>
          <p:cNvPr id="46" name="Text 38"/>
          <p:cNvSpPr/>
          <p:nvPr/>
        </p:nvSpPr>
        <p:spPr>
          <a:xfrm>
            <a:off x="3383280" y="3822192"/>
            <a:ext cx="19933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SLA (99.9% vs 99.99%), soporte técnico LATAM, documentación en ES.</a:t>
            </a:r>
            <a:endParaRPr lang="en-US" sz="850" dirty="0"/>
          </a:p>
        </p:txBody>
      </p:sp>
      <p:sp>
        <p:nvSpPr>
          <p:cNvPr id="47" name="Shape 39"/>
          <p:cNvSpPr/>
          <p:nvPr/>
        </p:nvSpPr>
        <p:spPr>
          <a:xfrm>
            <a:off x="5916168" y="2999232"/>
            <a:ext cx="2084832" cy="1664208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9320" y="3090672"/>
            <a:ext cx="347472" cy="347472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6373368" y="307238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50" name="Shape 41"/>
          <p:cNvSpPr/>
          <p:nvPr/>
        </p:nvSpPr>
        <p:spPr>
          <a:xfrm>
            <a:off x="6922008" y="3108960"/>
            <a:ext cx="685800" cy="237744"/>
          </a:xfrm>
          <a:prstGeom prst="roundRect">
            <a:avLst>
              <a:gd name="adj" fmla="val 19231"/>
            </a:avLst>
          </a:prstGeom>
          <a:solidFill>
            <a:srgbClr val="F5A623">
              <a:alpha val="3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2"/>
          <p:cNvSpPr/>
          <p:nvPr/>
        </p:nvSpPr>
        <p:spPr>
          <a:xfrm>
            <a:off x="6922008" y="310896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900" dirty="0"/>
          </a:p>
        </p:txBody>
      </p:sp>
      <p:sp>
        <p:nvSpPr>
          <p:cNvPr id="52" name="Text 43"/>
          <p:cNvSpPr/>
          <p:nvPr/>
        </p:nvSpPr>
        <p:spPr>
          <a:xfrm>
            <a:off x="5961888" y="347472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 Risk</a:t>
            </a:r>
            <a:endParaRPr lang="en-US" sz="1000" dirty="0"/>
          </a:p>
        </p:txBody>
      </p:sp>
      <p:sp>
        <p:nvSpPr>
          <p:cNvPr id="53" name="Text 44"/>
          <p:cNvSpPr/>
          <p:nvPr/>
        </p:nvSpPr>
        <p:spPr>
          <a:xfrm>
            <a:off x="5961888" y="3822192"/>
            <a:ext cx="19933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Portabilidad del código, estándares abiertos (OCI, K8s), exit strategy.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Costos: 100K Requests/Mes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3 · Escenario real: LLM Gateway para empresa LATAM mediana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920240" cy="384048"/>
          </a:xfrm>
          <a:prstGeom prst="rect">
            <a:avLst/>
          </a:prstGeom>
          <a:solidFill>
            <a:srgbClr val="1A2E42"/>
          </a:solidFill>
          <a:ln w="635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31720" y="1078992"/>
            <a:ext cx="1691640" cy="384048"/>
          </a:xfrm>
          <a:prstGeom prst="rect">
            <a:avLst/>
          </a:prstGeom>
          <a:solidFill>
            <a:srgbClr val="003060"/>
          </a:solidFill>
          <a:ln w="635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331720" y="107899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(AKS)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23360" y="1078992"/>
            <a:ext cx="1691640" cy="384048"/>
          </a:xfrm>
          <a:prstGeom prst="rect">
            <a:avLst/>
          </a:prstGeom>
          <a:solidFill>
            <a:srgbClr val="002850"/>
          </a:solidFill>
          <a:ln w="635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23360" y="107899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(GKE)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15000" y="1078992"/>
            <a:ext cx="1691640" cy="384048"/>
          </a:xfrm>
          <a:prstGeom prst="rect">
            <a:avLst/>
          </a:prstGeom>
          <a:solidFill>
            <a:srgbClr val="3D1A00"/>
          </a:solidFill>
          <a:ln w="635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15000" y="107899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(EKS)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06640" y="1078992"/>
            <a:ext cx="1691640" cy="384048"/>
          </a:xfrm>
          <a:prstGeom prst="rect">
            <a:avLst/>
          </a:prstGeom>
          <a:solidFill>
            <a:srgbClr val="002D15"/>
          </a:solidFill>
          <a:ln w="635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06640" y="107899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Local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1463040"/>
            <a:ext cx="19202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14630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Cómputo (nodos)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31720" y="1463040"/>
            <a:ext cx="16916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77440" y="1463040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23360" y="1463040"/>
            <a:ext cx="16916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069080" y="1463040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$98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15000" y="1463040"/>
            <a:ext cx="16916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760720" y="1463040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06640" y="1463040"/>
            <a:ext cx="16916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452360" y="1463040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1865376"/>
            <a:ext cx="1920240" cy="402336"/>
          </a:xfrm>
          <a:prstGeom prst="rect">
            <a:avLst/>
          </a:prstGeom>
          <a:solidFill>
            <a:srgbClr val="131E2D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18653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K8s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31720" y="1865376"/>
            <a:ext cx="1691640" cy="402336"/>
          </a:xfrm>
          <a:prstGeom prst="rect">
            <a:avLst/>
          </a:prstGeom>
          <a:solidFill>
            <a:srgbClr val="131E2D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377440" y="1865376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023360" y="1865376"/>
            <a:ext cx="1691640" cy="402336"/>
          </a:xfrm>
          <a:prstGeom prst="rect">
            <a:avLst/>
          </a:prstGeom>
          <a:solidFill>
            <a:srgbClr val="131E2D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069080" y="1865376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715000" y="1865376"/>
            <a:ext cx="1691640" cy="402336"/>
          </a:xfrm>
          <a:prstGeom prst="rect">
            <a:avLst/>
          </a:prstGeom>
          <a:solidFill>
            <a:srgbClr val="131E2D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760720" y="1865376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06640" y="1865376"/>
            <a:ext cx="1691640" cy="402336"/>
          </a:xfrm>
          <a:prstGeom prst="rect">
            <a:avLst/>
          </a:prstGeom>
          <a:solidFill>
            <a:srgbClr val="131E2D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452360" y="1865376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2267712"/>
            <a:ext cx="19202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22677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LLM (tokens)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331720" y="2267712"/>
            <a:ext cx="16916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377440" y="22677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023360" y="2267712"/>
            <a:ext cx="16916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069080" y="22677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$72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715000" y="2267712"/>
            <a:ext cx="16916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760720" y="22677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406640" y="2267712"/>
            <a:ext cx="16916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452360" y="22677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1480" y="2670048"/>
            <a:ext cx="1920240" cy="402336"/>
          </a:xfrm>
          <a:prstGeom prst="rect">
            <a:avLst/>
          </a:prstGeom>
          <a:solidFill>
            <a:srgbClr val="131E2D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57200" y="267004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+ Registry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331720" y="2670048"/>
            <a:ext cx="1691640" cy="402336"/>
          </a:xfrm>
          <a:prstGeom prst="rect">
            <a:avLst/>
          </a:prstGeom>
          <a:solidFill>
            <a:srgbClr val="131E2D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377440" y="2670048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023360" y="2670048"/>
            <a:ext cx="1691640" cy="402336"/>
          </a:xfrm>
          <a:prstGeom prst="rect">
            <a:avLst/>
          </a:prstGeom>
          <a:solidFill>
            <a:srgbClr val="131E2D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069080" y="2670048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715000" y="2670048"/>
            <a:ext cx="1691640" cy="402336"/>
          </a:xfrm>
          <a:prstGeom prst="rect">
            <a:avLst/>
          </a:prstGeom>
          <a:solidFill>
            <a:srgbClr val="131E2D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760720" y="2670048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406640" y="2670048"/>
            <a:ext cx="1691640" cy="402336"/>
          </a:xfrm>
          <a:prstGeom prst="rect">
            <a:avLst/>
          </a:prstGeom>
          <a:solidFill>
            <a:srgbClr val="131E2D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452360" y="2670048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11480" y="3072384"/>
            <a:ext cx="19202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57200" y="307238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(egress)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331720" y="3072384"/>
            <a:ext cx="16916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377440" y="3072384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023360" y="3072384"/>
            <a:ext cx="16916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069080" y="3072384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715000" y="3072384"/>
            <a:ext cx="16916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760720" y="3072384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406640" y="3072384"/>
            <a:ext cx="16916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7452360" y="3072384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11480" y="3474720"/>
            <a:ext cx="1920240" cy="402336"/>
          </a:xfrm>
          <a:prstGeom prst="rect">
            <a:avLst/>
          </a:prstGeom>
          <a:solidFill>
            <a:srgbClr val="131E2D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57200" y="347472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331720" y="3474720"/>
            <a:ext cx="1691640" cy="402336"/>
          </a:xfrm>
          <a:prstGeom prst="rect">
            <a:avLst/>
          </a:prstGeom>
          <a:solidFill>
            <a:srgbClr val="131E2D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2377440" y="3474720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023360" y="3474720"/>
            <a:ext cx="1691640" cy="402336"/>
          </a:xfrm>
          <a:prstGeom prst="rect">
            <a:avLst/>
          </a:prstGeom>
          <a:solidFill>
            <a:srgbClr val="131E2D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4069080" y="3474720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715000" y="3474720"/>
            <a:ext cx="1691640" cy="402336"/>
          </a:xfrm>
          <a:prstGeom prst="rect">
            <a:avLst/>
          </a:prstGeom>
          <a:solidFill>
            <a:srgbClr val="131E2D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5760720" y="3474720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7406640" y="3474720"/>
            <a:ext cx="1691640" cy="402336"/>
          </a:xfrm>
          <a:prstGeom prst="rect">
            <a:avLst/>
          </a:prstGeom>
          <a:solidFill>
            <a:srgbClr val="131E2D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7452360" y="3474720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11480" y="3877056"/>
            <a:ext cx="1920240" cy="402336"/>
          </a:xfrm>
          <a:prstGeom prst="rect">
            <a:avLst/>
          </a:prstGeom>
          <a:solidFill>
            <a:srgbClr val="0D2A10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457200" y="387705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TOTAL/MES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2331720" y="3877056"/>
            <a:ext cx="1691640" cy="402336"/>
          </a:xfrm>
          <a:prstGeom prst="rect">
            <a:avLst/>
          </a:prstGeom>
          <a:solidFill>
            <a:srgbClr val="0D2A10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2377440" y="3877056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$259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4023360" y="3877056"/>
            <a:ext cx="1691640" cy="402336"/>
          </a:xfrm>
          <a:prstGeom prst="rect">
            <a:avLst/>
          </a:prstGeom>
          <a:solidFill>
            <a:srgbClr val="0D2A10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4069080" y="3877056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$290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5715000" y="3877056"/>
            <a:ext cx="1691640" cy="402336"/>
          </a:xfrm>
          <a:prstGeom prst="rect">
            <a:avLst/>
          </a:prstGeom>
          <a:solidFill>
            <a:srgbClr val="0D2A10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5760720" y="3877056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$310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7406640" y="3877056"/>
            <a:ext cx="1691640" cy="402336"/>
          </a:xfrm>
          <a:prstGeom prst="rect">
            <a:avLst/>
          </a:prstGeom>
          <a:solidFill>
            <a:srgbClr val="0D2A10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7452360" y="3877056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</a:t>
            </a:r>
            <a:endParaRPr lang="en-US" sz="1100" dirty="0"/>
          </a:p>
        </p:txBody>
      </p:sp>
      <p:graphicFrame>
        <p:nvGraphicFramePr>
          <p:cNvPr id="85" name="Chart 0"/>
          <p:cNvGraphicFramePr/>
          <p:nvPr/>
        </p:nvGraphicFramePr>
        <p:xfrm>
          <a:off x="411480" y="4160520"/>
          <a:ext cx="8321040" cy="804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y Gestión de Riesgos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3 · Modelo de decisión para proyectos LLM en entorno corporativo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3977640" cy="379476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Retorno de Inversión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36192"/>
            <a:ext cx="1234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229%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212140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a 18 meses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01368" y="1536192"/>
            <a:ext cx="1234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801368" y="212140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99816" y="1536192"/>
            <a:ext cx="1234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$47K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099816" y="212140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neto anual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48716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cuantificados (empresa 500 empleados):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788920"/>
            <a:ext cx="2834640" cy="320040"/>
          </a:xfrm>
          <a:prstGeom prst="rect">
            <a:avLst/>
          </a:prstGeom>
          <a:solidFill>
            <a:srgbClr val="0D2010"/>
          </a:solidFill>
          <a:ln w="6350">
            <a:solidFill>
              <a:srgbClr val="0F30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" y="2788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soporte IT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06040" y="27889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+$28K/año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136392"/>
            <a:ext cx="2834640" cy="320040"/>
          </a:xfrm>
          <a:prstGeom prst="rect">
            <a:avLst/>
          </a:prstGeom>
          <a:solidFill>
            <a:srgbClr val="0D2010"/>
          </a:solidFill>
          <a:ln w="6350">
            <a:solidFill>
              <a:srgbClr val="0F30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31363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tiempo análisis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06040" y="313639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+$15K/año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483864"/>
            <a:ext cx="2834640" cy="320040"/>
          </a:xfrm>
          <a:prstGeom prst="rect">
            <a:avLst/>
          </a:prstGeom>
          <a:solidFill>
            <a:srgbClr val="0D2010"/>
          </a:solidFill>
          <a:ln w="6350">
            <a:solidFill>
              <a:srgbClr val="0F30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" y="348386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error humano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06040" y="348386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+$8K/año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831336"/>
            <a:ext cx="2834640" cy="320040"/>
          </a:xfrm>
          <a:prstGeom prst="rect">
            <a:avLst/>
          </a:prstGeom>
          <a:solidFill>
            <a:srgbClr val="0D2010"/>
          </a:solidFill>
          <a:ln w="6350">
            <a:solidFill>
              <a:srgbClr val="0F30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" y="38313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Time-to-market -40%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06040" y="383133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+$12K/año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4178808"/>
            <a:ext cx="2834640" cy="320040"/>
          </a:xfrm>
          <a:prstGeom prst="rect">
            <a:avLst/>
          </a:prstGeom>
          <a:solidFill>
            <a:srgbClr val="0D2010"/>
          </a:solidFill>
          <a:ln w="6350">
            <a:solidFill>
              <a:srgbClr val="0F30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6928" y="41788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cloud vs on-premise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606040" y="417880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-$16K/año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80560" y="1078992"/>
            <a:ext cx="4251960" cy="379476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0" y="114300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Riesgos y Mitigaciones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0" y="1536192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FF4757">
              <a:alpha val="35000"/>
            </a:srgbClr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0" y="153619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184648" y="15361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184648" y="1737360"/>
            <a:ext cx="3456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K8s estándar + Terraform multi-cloud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0" y="1984248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FF4757">
              <a:alpha val="35000"/>
            </a:srgbClr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0" y="198424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184648" y="19842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escalado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184648" y="2185416"/>
            <a:ext cx="3456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alerts + HPA limits + spot nodes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72000" y="2432304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F5A623">
              <a:alpha val="3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572000" y="243230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184648" y="243230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de red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184648" y="2633472"/>
            <a:ext cx="3456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 LATAM (BrazilSouth/us-east-1)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572000" y="2880360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FF4757">
              <a:alpha val="35000"/>
            </a:srgbClr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572000" y="288036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184648" y="2880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sensibles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184648" y="3081528"/>
            <a:ext cx="3456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privada + Presidio PII + cifrado KMS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572000" y="332841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F5A623">
              <a:alpha val="3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572000" y="332841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184648" y="332841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Alucinaciones LLM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184648" y="3529584"/>
            <a:ext cx="3456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guardrails + validación humana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572000" y="3776472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F5A623">
              <a:alpha val="3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572000" y="377647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184648" y="37764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API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184648" y="3977640"/>
            <a:ext cx="3456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Ollama + circuit breaker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572000" y="4224528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00E676">
              <a:alpha val="35000"/>
            </a:srgbClr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572000" y="422452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184648" y="42245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equipo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184648" y="4425696"/>
            <a:ext cx="3456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BSG + pair programming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Referencia: LLM en Producción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integral — del código local al clúster cloud multi-zona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8321040" cy="566928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36576" cy="566928"/>
          </a:xfrm>
          <a:prstGeom prst="rect">
            <a:avLst/>
          </a:prstGeom>
          <a:solidFill>
            <a:srgbClr val="B0C0D0"/>
          </a:solidFill>
          <a:ln w="12700">
            <a:solidFill>
              <a:srgbClr val="B0C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15214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97480" y="118872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B0C0D0">
              <a:alpha val="18000"/>
            </a:srgbClr>
          </a:solidFill>
          <a:ln w="6350">
            <a:solidFill>
              <a:srgbClr val="B0C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97480" y="11887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B0C0D0">
              <a:alpha val="18000"/>
            </a:srgbClr>
          </a:solidFill>
          <a:ln w="6350">
            <a:solidFill>
              <a:srgbClr val="B0C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11887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629400" y="118872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B0C0D0">
              <a:alpha val="18000"/>
            </a:srgbClr>
          </a:solidFill>
          <a:ln w="6350">
            <a:solidFill>
              <a:srgbClr val="B0C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29400" y="11887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43400" y="166420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1874520"/>
            <a:ext cx="8321040" cy="566928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" y="1874520"/>
            <a:ext cx="36576" cy="5669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6928" y="192938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697480" y="196596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00D4FF">
              <a:alpha val="18000"/>
            </a:srgbClr>
          </a:solidFill>
          <a:ln w="63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697480" y="19659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96596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00D4FF">
              <a:alpha val="18000"/>
            </a:srgbClr>
          </a:solidFill>
          <a:ln w="63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63440" y="19659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JWT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196596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00D4FF">
              <a:alpha val="18000"/>
            </a:srgbClr>
          </a:solidFill>
          <a:ln w="63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29400" y="19659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43400" y="244144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2651760"/>
            <a:ext cx="8321040" cy="566928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11480" y="2651760"/>
            <a:ext cx="36576" cy="5669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6928" y="270662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(AKS/GKE/EKS)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697480" y="274320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A855F7">
              <a:alpha val="18000"/>
            </a:srgbClr>
          </a:solidFill>
          <a:ln w="63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697480" y="274320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Pods ×2-10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274320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A855F7">
              <a:alpha val="18000"/>
            </a:srgbClr>
          </a:solidFill>
          <a:ln w="63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63440" y="274320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AutoScale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629400" y="274320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A855F7">
              <a:alpha val="18000"/>
            </a:srgbClr>
          </a:solidFill>
          <a:ln w="63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629400" y="274320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343400" y="321868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3429000"/>
            <a:ext cx="8321040" cy="566928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11480" y="3429000"/>
            <a:ext cx="36576" cy="5669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66928" y="348386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BACKENDS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697480" y="352044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F5A623">
              <a:alpha val="18000"/>
            </a:srgbClr>
          </a:solidFill>
          <a:ln w="63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697480" y="352044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352044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F5A623">
              <a:alpha val="18000"/>
            </a:srgbClr>
          </a:solidFill>
          <a:ln w="63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663440" y="352044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Local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629400" y="352044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F5A623">
              <a:alpha val="18000"/>
            </a:srgbClr>
          </a:solidFill>
          <a:ln w="63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629400" y="352044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343400" y="399592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1480" y="4160520"/>
            <a:ext cx="8321040" cy="566928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11480" y="4160520"/>
            <a:ext cx="36576" cy="56692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66928" y="421538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697480" y="425196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00E676">
              <a:alpha val="18000"/>
            </a:srgbClr>
          </a:solidFill>
          <a:ln w="635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697480" y="42519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63440" y="425196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00E676">
              <a:alpha val="18000"/>
            </a:srgbClr>
          </a:solidFill>
          <a:ln w="635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663440" y="42519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629400" y="425196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00E676">
              <a:alpha val="18000"/>
            </a:srgbClr>
          </a:solidFill>
          <a:ln w="635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629400" y="42519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aprendimos hoy: Sesión 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modelos · Modalidades de consumo · Casos de uso empresariales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3977640" cy="3794760"/>
          </a:xfrm>
          <a:prstGeom prst="rect">
            <a:avLst/>
          </a:prstGeom>
          <a:solidFill>
            <a:srgbClr val="1A152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Conocimientos Adquiridos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/ GPT-4o-mini / Claude / Gemini — propietarios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176272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/ Mistral / Phi / Qwen / Gemma — open-source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752344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gestionada vs Ollama self-hosted local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328416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selección: privacidad, costo, latencia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904488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y punto de equilibrio ~5M tokens/mes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34840" y="2834640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16552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754880" y="1078992"/>
            <a:ext cx="3977640" cy="3794760"/>
          </a:xfrm>
          <a:prstGeom prst="rect">
            <a:avLst/>
          </a:prstGeom>
          <a:solidFill>
            <a:srgbClr val="1A2E42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117043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Habilidades Prácticas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1600200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tickets con JSON estructurado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176272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contratos en 200 palabras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752344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de datos de facturas a JSON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3328416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sentimiento en lote con prioridades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3904488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Comparador multi-modelo React + FastAPI + Ollama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5 ejemplos Python listos  ·  1 backend FastAPI completo  ·  1 frontend React comparador  ·  Ollama local sin costo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y Próximos Pasos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necesitas para continuar aprendiendo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0" y="164592"/>
            <a:ext cx="1444752" cy="274320"/>
          </a:xfrm>
          <a:prstGeom prst="roundRect">
            <a:avLst>
              <a:gd name="adj" fmla="val 20000"/>
            </a:avLst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0" y="16459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Y DOCS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3977640" cy="379476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70432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2344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BSG — Sesión 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1737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github.com/bsg-institute/nivelacion-llm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48640" y="20208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Ejemplos: session_2/ejemplos/ (5 scripts)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48640" y="23042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Backend: session_2/backend/ (FastAPI async)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48640" y="25877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Frontend: session_2/frontend/ (React comparador)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48640" y="28712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Docs: session_2/docs/SETUP.md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48640" y="3154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48640" y="34381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48640" y="37216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serve + ollama pull llama3.2:3b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48640" y="40233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recomendadas: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48640" y="427939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Ollama: </a:t>
            </a: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ollama.com/library</a:t>
            </a: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catálogo completo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48640" y="450799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Playground: platform.openai.com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48640" y="473659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Console: </a:t>
            </a: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console.anthropic.com</a:t>
            </a: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créditos gratuitos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480560" y="1078992"/>
            <a:ext cx="4251960" cy="379476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170432"/>
            <a:ext cx="502920" cy="5029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230368" y="1234440"/>
            <a:ext cx="34107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 — Sesión 3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4617720" y="1737360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00E676">
              <a:alpha val="25000"/>
            </a:srgbClr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4617720" y="17373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5166360" y="17373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Ingeniería de Prompts avanzada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766560" y="17373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Chain-of-thought, few-shot, system prompts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4617720" y="2167128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00E676">
              <a:alpha val="25000"/>
            </a:srgbClr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4617720" y="21671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5166360" y="21671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6766560" y="21671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Retrieval-Augmented Generation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4617720" y="2596896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F5A623">
              <a:alpha val="2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4617720" y="259689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5166360" y="259689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Embeddings + vector search + memoria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6766560" y="259689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en producción: caching, rate limiting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4617720" y="3026664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F5A623">
              <a:alpha val="2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4617720" y="302666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750" dirty="0"/>
          </a:p>
        </p:txBody>
      </p:sp>
      <p:sp>
        <p:nvSpPr>
          <p:cNvPr id="39" name="Text 35"/>
          <p:cNvSpPr/>
          <p:nvPr/>
        </p:nvSpPr>
        <p:spPr>
          <a:xfrm>
            <a:off x="5166360" y="302666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6766560" y="302666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y métricas de calidad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4617720" y="3456432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F5A623">
              <a:alpha val="2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/>
          <p:nvPr/>
        </p:nvSpPr>
        <p:spPr>
          <a:xfrm>
            <a:off x="4617720" y="34564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750" dirty="0"/>
          </a:p>
        </p:txBody>
      </p:sp>
      <p:sp>
        <p:nvSpPr>
          <p:cNvPr id="43" name="Text 39"/>
          <p:cNvSpPr/>
          <p:nvPr/>
        </p:nvSpPr>
        <p:spPr>
          <a:xfrm>
            <a:off x="5166360" y="345643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6766560" y="34564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y adaptación de modelos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4480560" y="3886200"/>
            <a:ext cx="4251960" cy="987552"/>
          </a:xfrm>
          <a:prstGeom prst="rect">
            <a:avLst/>
          </a:prstGeom>
          <a:solidFill>
            <a:srgbClr val="0D1F2D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2"/>
          <p:cNvSpPr/>
          <p:nvPr/>
        </p:nvSpPr>
        <p:spPr>
          <a:xfrm>
            <a:off x="4572000" y="3950208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Instalar y ejecutar:
</a:t>
            </a:r>
            <a:r>
              <a:rPr lang="en-US" sz="8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
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ollama pull llama3.2:3b
    ollama serve
    # API: localhost:11434
    uvicorn main:app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00D4FF">
              <a:alpha val="8000"/>
            </a:srgbClr>
          </a:solidFill>
          <a:ln w="63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-457200"/>
            <a:ext cx="3200400" cy="3200400"/>
          </a:xfrm>
          <a:prstGeom prst="ellipse">
            <a:avLst/>
          </a:prstGeom>
          <a:solidFill>
            <a:srgbClr val="F5A623">
              <a:alpha val="8000"/>
            </a:srgbClr>
          </a:solidFill>
          <a:ln w="63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Resumen de la Sesión 2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4069080" cy="100584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932688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70432" y="932688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propietarios: GPT-4o, Claude, Gemini — API gestionada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069080" cy="100584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0" y="932688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22392" y="932688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Open-source: Llama 3.2, Mistral, Phi-3, Qwen 2.5 — sin costo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1947672"/>
            <a:ext cx="4069080" cy="100584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01168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70432" y="201168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self-hosted: modelos locales con privacidad total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947672"/>
            <a:ext cx="4069080" cy="100584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201168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22392" y="201168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selección: costo, privacidad, latencia, capacidad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026664"/>
            <a:ext cx="4069080" cy="100584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090672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70432" y="3090672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~5M tokens/mes · Local $0 vs Cloud $0.075-$3/MTok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026664"/>
            <a:ext cx="4069080" cy="100584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3090672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22392" y="3090672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uso: soporte, documentos, extracción, sentimiento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4114800"/>
            <a:ext cx="8321040" cy="841248"/>
          </a:xfrm>
          <a:prstGeom prst="rect">
            <a:avLst/>
          </a:prstGeom>
          <a:solidFill>
            <a:srgbClr val="1A2E42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4169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Recursos del Curso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462272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GitHub: </a:t>
            </a: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github.com/bsg-institute/nivelacion-llm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66344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rápido: </a:t>
            </a: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session_2/docs/SETUP.md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09160" y="4462272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costos: </a:t>
            </a: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ejemplos/05_api_vs_selfhosted.py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09160" y="466344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modelos: </a:t>
            </a: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ejemplos/03_comparacion_modelos.py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" y="4974336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BSG Institute  ·  Fundamentos de Arquitectura LLM  ·  Sesión 2 de 10  ·  Próxima sesión: Ingeniería de Prompts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LANTILLA BSG" id="{7F555B27-CD1F-4042-ABC3-9759B34561DB}" vid="{791D7355-7BB4-4DD9-B0A9-146B9A4E295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2921</Words>
  <Application>Microsoft Office PowerPoint</Application>
  <PresentationFormat>On-screen Show (16:9)</PresentationFormat>
  <Paragraphs>498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Calibri</vt:lpstr>
      <vt:lpstr>Courier New</vt:lpstr>
      <vt:lpstr>Office Theme</vt:lpstr>
      <vt:lpstr>Tema de Office</vt:lpstr>
      <vt:lpstr>Programa Certified AI-LLM Solution Architect  Curso Fundamentos de Arquitectura LLM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3 – Kubernetes, Docker y LLMs</dc:title>
  <dc:subject>PptxGenJS Presentation</dc:subject>
  <dc:creator>BSG Institute</dc:creator>
  <cp:lastModifiedBy>Andres Rojas</cp:lastModifiedBy>
  <cp:revision>1</cp:revision>
  <dcterms:created xsi:type="dcterms:W3CDTF">2026-06-30T01:04:24Z</dcterms:created>
  <dcterms:modified xsi:type="dcterms:W3CDTF">2026-09-11T00:32:03Z</dcterms:modified>
</cp:coreProperties>
</file>